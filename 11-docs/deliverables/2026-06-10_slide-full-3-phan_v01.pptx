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1AB6864-65B3-4CDA-ACCE-50543A8FDED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bia chung — nguoi 1 gioi thieu nhom va 3 phan trong 30 giay roi vao ngay Phan 1.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AFC6C0-C45E-4D84-84B2-D3C931FBFB6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Chào thầy cô và các bạn. Phần mở màn trả lời 2 câu hỏi: vì sao cần hệ thống này, và hệ thống cần làm được gì. Đi theo 4 bước: bối cảnh - hiện trạng - giải pháp - yêu cầu.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B4D9EB-2136-4CD6-BB75-BC7A72CADE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Nhấn mạnh: nhu cầu lặp lại hàng năm. LƯU Ý: số liệu là ƯỚC TÍNH từ quan sát của nhóm — nếu thầy hỏi nguồn, chủ động nói: nhóm em ước tính từ quan sát thực tế, chưa khảo sát định lượng.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879425-992D-4675-8629-43D24FF530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 van de doc luot nhanh, moi van de 1 cau. Diem chot: khong co van de nao kho ve cong nghe - kho o cho chua ai go chung lai thanh mot he thong.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932216-C8D8-4F00-9028-26B9518C5C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Số liệu từ user journey AS-IS: cô giảng viên tổ chức Hackathon mất 40-50 giờ; sinh viên 24 ngày vòng đời thì 9 ngày là chờ. Câu chốt in nghiêng là cầu nối sang slide giải pháp. LƯU Ý: các con số là ước tính minh họa từ kịch bản AS-IS — dùng từ "ước tính" khi trình bày.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33267E-1EC9-41AB-8F43-398861E002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 ý giải pháp đối xứng 1-1 với 4 vấn đề ở slide 3. Nói rõ mapping này để thầy thấy giải pháp không chung chung.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FE3754-3E65-437E-8EE1-B7D0D3BB6C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 chức năng chia theo 4 vai trò, mỗi vai trò chỉ đọc 1 dòng nhiệm vụ chính. Sinh viên dùng cả mobile, 3 vai trò còn lại làm việc trên web desktop.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27C91B-B660-4E08-A936-03918193DC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quan trọng nhất phần này - dừng lâu hơn. Hai quyết định riêng biệt: QĐ1 cho phép tổ chức, QĐ2 công nhận kết quả. Nhấn revision loop có lưu vết - giải đúng pain point phê duyệt giấy 3-7 ngày.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A722CF-9A90-4E8E-85E3-5B489B1A4E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 bước là use case tổng quát - khung cho mọi phần sau. Cột phải đọc nhanh, vì bạn 2 và 3 sẽ nói sâu hơn.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600451-650F-49A8-A58D-7AD8B1C00F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Chốt 1 câu rồi chuyển ngay cho bạn thứ hai, không kéo dài.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D81021D-F18C-4D64-BF81-781D971955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Noi tiep phan 1: bai toan da ro, gio tra loi cau hoi 'dung len the nao'. 4 buoc: kien truc, du lieu, API, giao dien.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4F1ABE-CC3B-45D4-8BCC-8D1E186B87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Chi 3 lop tu trai sang phai. Diem nhan: 1 codebase Flutter ra ca web lan APK; backend va DB tach roi, giao tiep chuan REST.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D51985-31AA-4922-9132-0CF46D4BDE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Moi cong nghe 1 ly do thuc dung, gan voi hoan canh nhom 3 nguoi. Tranh ke dac diem chung chung.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EF09F89-9FB7-407C-91BA-FDC2709F0D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Khong doc het 43 bang - chi 6 nhom theo vong doi. Dung lau o box do: workflow_approvals la noi hien thuc hoa quy trinh 2 cap ma ban 1 gioi thieu.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F4AC12-4AEB-499A-90C2-D0837904D4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 con so trai de dinh hinh quy mo. Cot phai la bang chung do duoc: scan A+ securityheaders.com - co the mo live neu thay hoi.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2C4ED5-69AB-421A-912F-E2D3FF3AA2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Nhan manh quy trinh: thiet ke truoc, code sau. Mockup HTML cho 4 vai tro la diem cong - co the mo file mockup neu duoc hoi.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0FEB7AD-CD9C-4E9D-AD9A-FCA8E1F7B5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Design system khong phai trang tri: no la luat duoc enforce bang lint. Con so 334-&gt;269 la bang chung he thong tu kiem soat duoc chat luong giao dien.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60D991-79D7-4A94-8946-0BA316D350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 the hien cua cung 1 codebase. Neu demo: keo nho cua so browser de thay layout tu chuyen sidebar -&gt; bottom nav.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B210DB-C5A5-472E-9561-2DEB9367039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Chot 1 cau va chuyen ngay cho ban thu 3.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A619B9C-8350-4B4D-912C-12544B932BE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Phan cuoi: chung minh thiet ke o phan 2 da thanh san pham chay that. Cao trao la demo truc tiep.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76CB51-90F3-42F7-A3C5-016762F8B4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 con so doc cham. 30/30 la con so quan trong nhat - noi voi 30 chuc nang ban 1 da neu. Trace duoc tung dong la diem cong khi bao 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CD89D2-A5ED-4F2A-B9D5-8A211771B5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Thong diep: chat luong co quy trinh do dac. 4 mang: UX, a11y, bao mat, E2E. Cac con so deu co file bao cao goc trong 11-docs.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EBAC422-E387-4216-A30D-4150F69214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 nay tra loi cau hoi 'san pham mon hoc hay san pham that?'. Diem dat: ban Docker offline lam rieng de thay cham khong phu thuoc mang.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53A0ED-76E0-4C3E-B014-10C6B06CA4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Day la slide treo man hinh truoc khi chuyen sang app that. 6 buoc bam dung thu tu workflow 2 cap. BCN duoc to do de khan gia nhin thay 2 lan phe duyet.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EFD7EF-C290-4674-B49E-CFD5A52F26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Vong tron khep kin voi phan mo man cua ban 1: 4 van de - 4 loi giai da chay that. Day la slide ket luan manh nhat.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3DFC89-6D1F-4D27-9EE9-2679C7E9F3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Chu dong neu han che truoc khi thay hoi - the hien nhom hieu san pham. Cau chot quan trong: chua lam vs khong lam duoc.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CB2D9E-FE82-475A-B157-9D1AF4BE6E6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 huong xep theo do uu tien. Diem cong: faculty scope da thiet ke san tu dau nen nhan rong khong phai dap lai kien truc.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952C00-0D8B-48B5-B8E6-74F7023AD3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Cam on ngan gon, de man hinh o slide nay suot phien Q&amp;A vi co san link demo.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58F354-8E50-4F8F-A7C9-408A65A8E6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1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23.png"/><Relationship Id="rId4" Type="http://schemas.openxmlformats.org/officeDocument/2006/relationships/image" Target="../media/image2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>
            <a:alphaModFix amt="16000"/>
          </a:blip>
          <a:stretch/>
        </p:blipFill>
        <p:spPr>
          <a:xfrm>
            <a:off x="6400800" y="640080"/>
            <a:ext cx="2102760" cy="2102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" name="Text 0"/>
          <p:cNvSpPr/>
          <p:nvPr/>
        </p:nvSpPr>
        <p:spPr>
          <a:xfrm>
            <a:off x="640080" y="91440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pc="249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ĐỒ ÁN MÔN CÔNG NGHỆ PHẦN MỀM — HK2 2025–2026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1"/>
          <p:cNvSpPr/>
          <p:nvPr/>
        </p:nvSpPr>
        <p:spPr>
          <a:xfrm>
            <a:off x="640080" y="1298520"/>
            <a:ext cx="7680600" cy="141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Hệ thống Quản lý Cuộc thi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Sinh viên PTIT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2788920"/>
            <a:ext cx="78634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Web · Mobile · APK Android  —  FastAPI · Flutter · PostgreSQL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40080" y="3246120"/>
            <a:ext cx="78634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Nhóm X — 3 thành viên   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39776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PHẦN 1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5"/>
          <p:cNvSpPr/>
          <p:nvPr/>
        </p:nvSpPr>
        <p:spPr>
          <a:xfrm>
            <a:off x="640080" y="4297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Bài toán &amp; yêu cầu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6"/>
          <p:cNvSpPr/>
          <p:nvPr/>
        </p:nvSpPr>
        <p:spPr>
          <a:xfrm>
            <a:off x="3291840" y="39776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PHẦN 2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7"/>
          <p:cNvSpPr/>
          <p:nvPr/>
        </p:nvSpPr>
        <p:spPr>
          <a:xfrm>
            <a:off x="3291840" y="4297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Thiết kế hệ thống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5943600" y="397764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PHẦN 3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5943600" y="4297680"/>
            <a:ext cx="24685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Sản phẩm &amp; demo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preencoded.png"/>
          <p:cNvPicPr/>
          <p:nvPr/>
        </p:nvPicPr>
        <p:blipFill>
          <a:blip r:embed="rId1">
            <a:alphaModFix amt="14000"/>
          </a:blip>
          <a:stretch/>
        </p:blipFill>
        <p:spPr>
          <a:xfrm>
            <a:off x="6537960" y="685800"/>
            <a:ext cx="191988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0"/>
          <p:cNvSpPr/>
          <p:nvPr/>
        </p:nvSpPr>
        <p:spPr>
          <a:xfrm>
            <a:off x="640080" y="868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PHẦN 1 / 3 — MỞ MÀN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640080" y="1188720"/>
            <a:ext cx="7863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Bài toán &amp; Phân tích yêu cầu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640080" y="20574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Hệ thống Quản lý Cuộc thi Sinh viên PTIT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40080" y="254196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Người trình bày: Thành viên 1 — Nhóm N08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64008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64008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Bối cảnh &amp; hiện trạng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26334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263340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Hệ quả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462672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462672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Giải pháp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66204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662040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Người dùng &amp; yêu cầu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BỐI CẢNH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Cuộc thi sinh viên tại PTIT — quy mô không nhỏ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548640" y="1417320"/>
            <a:ext cx="2578320" cy="18741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548640" y="1645920"/>
            <a:ext cx="257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15–25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548640" y="239580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cuộc thi mỗi năm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5"/>
          <p:cNvSpPr/>
          <p:nvPr/>
        </p:nvSpPr>
        <p:spPr>
          <a:xfrm>
            <a:off x="548640" y="272484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cấp khoa và toàn Học viện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6"/>
          <p:cNvSpPr/>
          <p:nvPr/>
        </p:nvSpPr>
        <p:spPr>
          <a:xfrm>
            <a:off x="3355920" y="1417320"/>
            <a:ext cx="2578320" cy="18741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7"/>
          <p:cNvSpPr/>
          <p:nvPr/>
        </p:nvSpPr>
        <p:spPr>
          <a:xfrm>
            <a:off x="3355920" y="1645920"/>
            <a:ext cx="257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50–300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8"/>
          <p:cNvSpPr/>
          <p:nvPr/>
        </p:nvSpPr>
        <p:spPr>
          <a:xfrm>
            <a:off x="3355920" y="239580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thí sinh mỗi cuộc thi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9"/>
          <p:cNvSpPr/>
          <p:nvPr/>
        </p:nvSpPr>
        <p:spPr>
          <a:xfrm>
            <a:off x="3355920" y="272484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sự kiện lớn lên đến 500+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0"/>
          <p:cNvSpPr/>
          <p:nvPr/>
        </p:nvSpPr>
        <p:spPr>
          <a:xfrm>
            <a:off x="6163200" y="1417320"/>
            <a:ext cx="2578320" cy="18741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1"/>
          <p:cNvSpPr/>
          <p:nvPr/>
        </p:nvSpPr>
        <p:spPr>
          <a:xfrm>
            <a:off x="6163200" y="1645920"/>
            <a:ext cx="25783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3.000–5.000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2"/>
          <p:cNvSpPr/>
          <p:nvPr/>
        </p:nvSpPr>
        <p:spPr>
          <a:xfrm>
            <a:off x="6163200" y="239580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lượt đăng ký mỗi năm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3"/>
          <p:cNvSpPr/>
          <p:nvPr/>
        </p:nvSpPr>
        <p:spPr>
          <a:xfrm>
            <a:off x="6163200" y="2724840"/>
            <a:ext cx="2578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trên toàn Học viện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4"/>
          <p:cNvSpPr/>
          <p:nvPr/>
        </p:nvSpPr>
        <p:spPr>
          <a:xfrm>
            <a:off x="548640" y="36576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4 nhóm cuộc thi:  </a:t>
            </a:r>
            <a:r>
              <a:rPr lang="en-US" sz="13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Học thuật chuyên ngành  ·  Sáng tạo – khởi nghiệp  ·  Văn hóa – thể thao  ·  Nội bộ khoa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5"/>
          <p:cNvSpPr/>
          <p:nvPr/>
        </p:nvSpPr>
        <p:spPr>
          <a:xfrm>
            <a:off x="548640" y="46177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Số liệu ước tính — nhóm N08 tổng hợp từ quan sát thực tế tại PTIT (nghiên cứu hồi cứu, 01-research), chưa phải khảo sát đo đạc.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6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2/9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HIỆN TRẠNG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Nhưng tất cả đang chạy thủ công và rời rạc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"/>
          <p:cNvSpPr/>
          <p:nvPr/>
        </p:nvSpPr>
        <p:spPr>
          <a:xfrm>
            <a:off x="548640" y="1371600"/>
            <a:ext cx="3977280" cy="1462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749880" y="18198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0" descr="preencoded.png"/>
          <p:cNvPicPr/>
          <p:nvPr/>
        </p:nvPicPr>
        <p:blipFill>
          <a:blip r:embed="rId1"/>
          <a:stretch/>
        </p:blipFill>
        <p:spPr>
          <a:xfrm>
            <a:off x="897120" y="19670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4"/>
          <p:cNvSpPr/>
          <p:nvPr/>
        </p:nvSpPr>
        <p:spPr>
          <a:xfrm>
            <a:off x="1463040" y="157284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Thông tin phân tán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1463040" y="188352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Facebook, email, bảng tin giấy — sinh viên bỏ lỡ vì không có nguồn chính thức nào.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6"/>
          <p:cNvSpPr/>
          <p:nvPr/>
        </p:nvSpPr>
        <p:spPr>
          <a:xfrm>
            <a:off x="4709160" y="1371600"/>
            <a:ext cx="3977280" cy="1462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7"/>
          <p:cNvSpPr/>
          <p:nvPr/>
        </p:nvSpPr>
        <p:spPr>
          <a:xfrm>
            <a:off x="4910400" y="18198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1" descr="preencoded.png"/>
          <p:cNvPicPr/>
          <p:nvPr/>
        </p:nvPicPr>
        <p:blipFill>
          <a:blip r:embed="rId2"/>
          <a:stretch/>
        </p:blipFill>
        <p:spPr>
          <a:xfrm>
            <a:off x="5057640" y="19670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8"/>
          <p:cNvSpPr/>
          <p:nvPr/>
        </p:nvSpPr>
        <p:spPr>
          <a:xfrm>
            <a:off x="5623560" y="157284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Đăng ký rời rạc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5623560" y="188352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Mỗi cuộc thi một Google Form; BTC gộp dữ liệu thủ công, dễ trùng lặp, sai sót.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548640" y="2999160"/>
            <a:ext cx="3977280" cy="1462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11"/>
          <p:cNvSpPr/>
          <p:nvPr/>
        </p:nvSpPr>
        <p:spPr>
          <a:xfrm>
            <a:off x="749880" y="344736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" name="Image 2" descr="preencoded.png"/>
          <p:cNvPicPr/>
          <p:nvPr/>
        </p:nvPicPr>
        <p:blipFill>
          <a:blip r:embed="rId3"/>
          <a:stretch/>
        </p:blipFill>
        <p:spPr>
          <a:xfrm>
            <a:off x="897120" y="35946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 12"/>
          <p:cNvSpPr/>
          <p:nvPr/>
        </p:nvSpPr>
        <p:spPr>
          <a:xfrm>
            <a:off x="1463040" y="320040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Phê duyệt trên giấy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3"/>
          <p:cNvSpPr/>
          <p:nvPr/>
        </p:nvSpPr>
        <p:spPr>
          <a:xfrm>
            <a:off x="1463040" y="351144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In công văn → BCN ký → scan → email lại. Mỗi vòng phản hồi mất 3–7 ngày.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4"/>
          <p:cNvSpPr/>
          <p:nvPr/>
        </p:nvSpPr>
        <p:spPr>
          <a:xfrm>
            <a:off x="4709160" y="2999160"/>
            <a:ext cx="3977280" cy="14626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5"/>
          <p:cNvSpPr/>
          <p:nvPr/>
        </p:nvSpPr>
        <p:spPr>
          <a:xfrm>
            <a:off x="4910400" y="344736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" name="Image 3" descr="preencoded.png"/>
          <p:cNvPicPr/>
          <p:nvPr/>
        </p:nvPicPr>
        <p:blipFill>
          <a:blip r:embed="rId4"/>
          <a:stretch/>
        </p:blipFill>
        <p:spPr>
          <a:xfrm>
            <a:off x="5057640" y="359460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Text 16"/>
          <p:cNvSpPr/>
          <p:nvPr/>
        </p:nvSpPr>
        <p:spPr>
          <a:xfrm>
            <a:off x="5623560" y="3200400"/>
            <a:ext cx="2880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Chấm điểm bằng Excel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7"/>
          <p:cNvSpPr/>
          <p:nvPr/>
        </p:nvSpPr>
        <p:spPr>
          <a:xfrm>
            <a:off x="5623560" y="3511440"/>
            <a:ext cx="28800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Mỗi giám khảo một file riêng, tổng hợp tay — không có dấu vết để đối chiếu.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8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3/9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HỆ QUẢ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Cái giá của quy trình thủ công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1536120" y="1417320"/>
            <a:ext cx="603000" cy="60300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Image 0" descr="preencoded.png"/>
          <p:cNvPicPr/>
          <p:nvPr/>
        </p:nvPicPr>
        <p:blipFill>
          <a:blip r:embed="rId1"/>
          <a:stretch/>
        </p:blipFill>
        <p:spPr>
          <a:xfrm>
            <a:off x="1691640" y="1572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Text 3"/>
          <p:cNvSpPr/>
          <p:nvPr/>
        </p:nvSpPr>
        <p:spPr>
          <a:xfrm>
            <a:off x="548640" y="2176200"/>
            <a:ext cx="2578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40–50 giờ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4"/>
          <p:cNvSpPr/>
          <p:nvPr/>
        </p:nvSpPr>
        <p:spPr>
          <a:xfrm>
            <a:off x="548640" y="278892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công sức BTC cho một cuộc thi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5"/>
          <p:cNvSpPr/>
          <p:nvPr/>
        </p:nvSpPr>
        <p:spPr>
          <a:xfrm>
            <a:off x="548640" y="331020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60% là việc hành chính lặp lại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6"/>
          <p:cNvSpPr/>
          <p:nvPr/>
        </p:nvSpPr>
        <p:spPr>
          <a:xfrm>
            <a:off x="4343400" y="1417320"/>
            <a:ext cx="603000" cy="60300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" name="Image 1" descr="preencoded.png"/>
          <p:cNvPicPr/>
          <p:nvPr/>
        </p:nvPicPr>
        <p:blipFill>
          <a:blip r:embed="rId2"/>
          <a:stretch/>
        </p:blipFill>
        <p:spPr>
          <a:xfrm>
            <a:off x="4498920" y="1572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 7"/>
          <p:cNvSpPr/>
          <p:nvPr/>
        </p:nvSpPr>
        <p:spPr>
          <a:xfrm>
            <a:off x="3355920" y="2176200"/>
            <a:ext cx="2578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9 ngày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3355920" y="278892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sinh viên chờ không rõ trạng thái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3355920" y="331020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7/10 bước trải nghiệm tiêu cực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7150680" y="1417320"/>
            <a:ext cx="603000" cy="60300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2" descr="preencoded.png"/>
          <p:cNvPicPr/>
          <p:nvPr/>
        </p:nvPicPr>
        <p:blipFill>
          <a:blip r:embed="rId3"/>
          <a:stretch/>
        </p:blipFill>
        <p:spPr>
          <a:xfrm>
            <a:off x="7306200" y="15728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11"/>
          <p:cNvSpPr/>
          <p:nvPr/>
        </p:nvSpPr>
        <p:spPr>
          <a:xfrm>
            <a:off x="6163200" y="2176200"/>
            <a:ext cx="25783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0 công cụ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2"/>
          <p:cNvSpPr/>
          <p:nvPr/>
        </p:nvSpPr>
        <p:spPr>
          <a:xfrm>
            <a:off x="6163200" y="278892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để BCN giám sát tiến độ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3"/>
          <p:cNvSpPr/>
          <p:nvPr/>
        </p:nvSpPr>
        <p:spPr>
          <a:xfrm>
            <a:off x="6163200" y="3310200"/>
            <a:ext cx="25783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tổng hợp cuối kỳ hoàn toàn thủ công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548640" y="411480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Ba nhóm người dùng — cùng một nguyên nhân: thiếu một hệ thống chung.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5"/>
          <p:cNvSpPr/>
          <p:nvPr/>
        </p:nvSpPr>
        <p:spPr>
          <a:xfrm>
            <a:off x="548640" y="461772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9CA3AF"/>
                </a:solidFill>
                <a:effectLst/>
                <a:uFillTx/>
                <a:latin typeface="Calibri"/>
                <a:ea typeface="Calibri"/>
              </a:rPr>
              <a:t>Ước tính từ phân tích hành trình người dùng AS-IS của nhóm (01-research) — minh họa mức độ, không phải số đo thực nghiệm.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6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4/9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GIẢI PHÁP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Một nền tảng quản lý trọn vòng đời cuộc thi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2"/>
          <p:cNvSpPr/>
          <p:nvPr/>
        </p:nvSpPr>
        <p:spPr>
          <a:xfrm>
            <a:off x="1156680" y="1463040"/>
            <a:ext cx="676440" cy="676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0" descr="preencoded.png"/>
          <p:cNvPicPr/>
          <p:nvPr/>
        </p:nvPicPr>
        <p:blipFill>
          <a:blip r:embed="rId1"/>
          <a:stretch/>
        </p:blipFill>
        <p:spPr>
          <a:xfrm>
            <a:off x="1332720" y="163908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3"/>
          <p:cNvSpPr/>
          <p:nvPr/>
        </p:nvSpPr>
        <p:spPr>
          <a:xfrm>
            <a:off x="548640" y="230436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Một kênh duy nhất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4"/>
          <p:cNvSpPr/>
          <p:nvPr/>
        </p:nvSpPr>
        <p:spPr>
          <a:xfrm>
            <a:off x="594360" y="2834640"/>
            <a:ext cx="180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Thông tin, đăng ký, nộp bài — tập trung một nơi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5"/>
          <p:cNvSpPr/>
          <p:nvPr/>
        </p:nvSpPr>
        <p:spPr>
          <a:xfrm>
            <a:off x="3232440" y="1463040"/>
            <a:ext cx="676440" cy="676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1" name="Image 1" descr="preencoded.png"/>
          <p:cNvPicPr/>
          <p:nvPr/>
        </p:nvPicPr>
        <p:blipFill>
          <a:blip r:embed="rId2"/>
          <a:stretch/>
        </p:blipFill>
        <p:spPr>
          <a:xfrm>
            <a:off x="3408480" y="163908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Text 6"/>
          <p:cNvSpPr/>
          <p:nvPr/>
        </p:nvSpPr>
        <p:spPr>
          <a:xfrm>
            <a:off x="2624400" y="230436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Phê duyệt số hóa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2670120" y="2834640"/>
            <a:ext cx="180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Đề xuất và kết quả duyệt online, lưu vết từng lần sửa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5308200" y="1463040"/>
            <a:ext cx="676440" cy="676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" name="Image 2" descr="preencoded.png"/>
          <p:cNvPicPr/>
          <p:nvPr/>
        </p:nvPicPr>
        <p:blipFill>
          <a:blip r:embed="rId3"/>
          <a:stretch/>
        </p:blipFill>
        <p:spPr>
          <a:xfrm>
            <a:off x="5483880" y="163908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Text 9"/>
          <p:cNvSpPr/>
          <p:nvPr/>
        </p:nvSpPr>
        <p:spPr>
          <a:xfrm>
            <a:off x="4700160" y="230436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Trạng thái real-time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4745880" y="2834640"/>
            <a:ext cx="180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SV, BTC, BCN cùng nhìn một dữ liệu, không phải hỏi nhau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1"/>
          <p:cNvSpPr/>
          <p:nvPr/>
        </p:nvSpPr>
        <p:spPr>
          <a:xfrm>
            <a:off x="7383960" y="1463040"/>
            <a:ext cx="676440" cy="6764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9" name="Image 3" descr="preencoded.png"/>
          <p:cNvPicPr/>
          <p:nvPr/>
        </p:nvPicPr>
        <p:blipFill>
          <a:blip r:embed="rId4"/>
          <a:stretch/>
        </p:blipFill>
        <p:spPr>
          <a:xfrm>
            <a:off x="7559640" y="1639080"/>
            <a:ext cx="324360" cy="32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 12"/>
          <p:cNvSpPr/>
          <p:nvPr/>
        </p:nvSpPr>
        <p:spPr>
          <a:xfrm>
            <a:off x="6775560" y="2304360"/>
            <a:ext cx="1892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Chứng nhận QR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6821280" y="2834640"/>
            <a:ext cx="18010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Xác thực công khai, chống giả mạo, dùng được cho CV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2743200" y="4069080"/>
            <a:ext cx="3657240" cy="456840"/>
          </a:xfrm>
          <a:prstGeom prst="roundRect">
            <a:avLst>
              <a:gd name="adj" fmla="val 50000"/>
            </a:avLst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2743200" y="4069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Web  ·  Mobile (Flutter)  ·  APK Android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5/9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NGƯỜI DÙNG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Bốn vai trò — 30 chức năng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2"/>
          <p:cNvSpPr/>
          <p:nvPr/>
        </p:nvSpPr>
        <p:spPr>
          <a:xfrm>
            <a:off x="548640" y="1371600"/>
            <a:ext cx="1892520" cy="2834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1211760" y="15912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0" descr="preencoded.png"/>
          <p:cNvPicPr/>
          <p:nvPr/>
        </p:nvPicPr>
        <p:blipFill>
          <a:blip r:embed="rId1"/>
          <a:stretch/>
        </p:blipFill>
        <p:spPr>
          <a:xfrm>
            <a:off x="1359000" y="17384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4"/>
          <p:cNvSpPr/>
          <p:nvPr/>
        </p:nvSpPr>
        <p:spPr>
          <a:xfrm>
            <a:off x="548640" y="2267640"/>
            <a:ext cx="189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Sinh viên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5"/>
          <p:cNvSpPr/>
          <p:nvPr/>
        </p:nvSpPr>
        <p:spPr>
          <a:xfrm>
            <a:off x="548640" y="2541960"/>
            <a:ext cx="189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11 chức năng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6"/>
          <p:cNvSpPr/>
          <p:nvPr/>
        </p:nvSpPr>
        <p:spPr>
          <a:xfrm>
            <a:off x="658440" y="2853000"/>
            <a:ext cx="1672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Tìm và đăng ký thi, nộp bài, xem kết quả, nhận chứng nhận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7"/>
          <p:cNvSpPr/>
          <p:nvPr/>
        </p:nvSpPr>
        <p:spPr>
          <a:xfrm>
            <a:off x="548640" y="3858840"/>
            <a:ext cx="1892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Mobile + 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2624400" y="1371600"/>
            <a:ext cx="1892520" cy="2834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3287160" y="15912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1" descr="preencoded.png"/>
          <p:cNvPicPr/>
          <p:nvPr/>
        </p:nvPicPr>
        <p:blipFill>
          <a:blip r:embed="rId2"/>
          <a:stretch/>
        </p:blipFill>
        <p:spPr>
          <a:xfrm>
            <a:off x="3434760" y="17384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10"/>
          <p:cNvSpPr/>
          <p:nvPr/>
        </p:nvSpPr>
        <p:spPr>
          <a:xfrm>
            <a:off x="2624400" y="2267640"/>
            <a:ext cx="189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GV / Ban tổ chức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1"/>
          <p:cNvSpPr/>
          <p:nvPr/>
        </p:nvSpPr>
        <p:spPr>
          <a:xfrm>
            <a:off x="2624400" y="2541960"/>
            <a:ext cx="189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7 chức năng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2734200" y="2853000"/>
            <a:ext cx="1672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Tạo cuộc thi, duyệt thí sinh, tổ chức chấm điểm, báo cáo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3"/>
          <p:cNvSpPr/>
          <p:nvPr/>
        </p:nvSpPr>
        <p:spPr>
          <a:xfrm>
            <a:off x="2624400" y="3858840"/>
            <a:ext cx="1892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4700160" y="1371600"/>
            <a:ext cx="1892520" cy="2834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5"/>
          <p:cNvSpPr/>
          <p:nvPr/>
        </p:nvSpPr>
        <p:spPr>
          <a:xfrm>
            <a:off x="5362920" y="15912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2" descr="preencoded.png"/>
          <p:cNvPicPr/>
          <p:nvPr/>
        </p:nvPicPr>
        <p:blipFill>
          <a:blip r:embed="rId3"/>
          <a:stretch/>
        </p:blipFill>
        <p:spPr>
          <a:xfrm>
            <a:off x="5510520" y="17384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Text 16"/>
          <p:cNvSpPr/>
          <p:nvPr/>
        </p:nvSpPr>
        <p:spPr>
          <a:xfrm>
            <a:off x="4700160" y="2267640"/>
            <a:ext cx="189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BCN khoa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7"/>
          <p:cNvSpPr/>
          <p:nvPr/>
        </p:nvSpPr>
        <p:spPr>
          <a:xfrm>
            <a:off x="4700160" y="2541960"/>
            <a:ext cx="189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6 chức năng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8"/>
          <p:cNvSpPr/>
          <p:nvPr/>
        </p:nvSpPr>
        <p:spPr>
          <a:xfrm>
            <a:off x="4809600" y="2853000"/>
            <a:ext cx="1672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Phê duyệt đề xuất và kết quả, giám sát toàn khoa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9"/>
          <p:cNvSpPr/>
          <p:nvPr/>
        </p:nvSpPr>
        <p:spPr>
          <a:xfrm>
            <a:off x="4700160" y="3858840"/>
            <a:ext cx="1892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20"/>
          <p:cNvSpPr/>
          <p:nvPr/>
        </p:nvSpPr>
        <p:spPr>
          <a:xfrm>
            <a:off x="6775560" y="1371600"/>
            <a:ext cx="1892520" cy="28342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1"/>
          <p:cNvSpPr/>
          <p:nvPr/>
        </p:nvSpPr>
        <p:spPr>
          <a:xfrm>
            <a:off x="7438680" y="15912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3" descr="preencoded.png"/>
          <p:cNvPicPr/>
          <p:nvPr/>
        </p:nvPicPr>
        <p:blipFill>
          <a:blip r:embed="rId4"/>
          <a:stretch/>
        </p:blipFill>
        <p:spPr>
          <a:xfrm>
            <a:off x="7585920" y="17384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2"/>
          <p:cNvSpPr/>
          <p:nvPr/>
        </p:nvSpPr>
        <p:spPr>
          <a:xfrm>
            <a:off x="6775560" y="2267640"/>
            <a:ext cx="1892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Quản trị viên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3"/>
          <p:cNvSpPr/>
          <p:nvPr/>
        </p:nvSpPr>
        <p:spPr>
          <a:xfrm>
            <a:off x="6775560" y="2541960"/>
            <a:ext cx="1892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6 chức năng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4"/>
          <p:cNvSpPr/>
          <p:nvPr/>
        </p:nvSpPr>
        <p:spPr>
          <a:xfrm>
            <a:off x="6885360" y="2853000"/>
            <a:ext cx="167292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Tài khoản, cấu hình hệ thống, sao lưu và audit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5"/>
          <p:cNvSpPr/>
          <p:nvPr/>
        </p:nvSpPr>
        <p:spPr>
          <a:xfrm>
            <a:off x="6775560" y="3858840"/>
            <a:ext cx="18925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Web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6"/>
          <p:cNvSpPr/>
          <p:nvPr/>
        </p:nvSpPr>
        <p:spPr>
          <a:xfrm>
            <a:off x="548640" y="443484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Ngoài ra: vai trò Giám khảo do BTC gán theo từng cuộc thi — phân quyền RBAC 5 vai trò.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7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6/9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ĐIỂM ĐẶC THÙ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Quy trình phê duyệt hai cấp BTC ↔ BCN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548640" y="144468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QĐ1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Đề xuất cuộc thi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1874520" y="1371600"/>
            <a:ext cx="2011320" cy="71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1874520" y="13716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BTC soạn &amp; nộp đề xuất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3886200" y="15361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6"/>
          <p:cNvSpPr/>
          <p:nvPr/>
        </p:nvSpPr>
        <p:spPr>
          <a:xfrm>
            <a:off x="4251960" y="1371600"/>
            <a:ext cx="2011320" cy="712800"/>
          </a:xfrm>
          <a:prstGeom prst="rect">
            <a:avLst/>
          </a:prstGeom>
          <a:solidFill>
            <a:srgbClr val="C8102E"/>
          </a:solidFill>
          <a:ln w="15875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4251960" y="13716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BCN xét duyệt — QĐ1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6263640" y="15361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6629400" y="1371600"/>
            <a:ext cx="2011320" cy="71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6629400" y="13716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Công bố · mở đăng ký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548640" y="2468880"/>
            <a:ext cx="12067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QĐ2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Kết quả chung cuộc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2"/>
          <p:cNvSpPr/>
          <p:nvPr/>
        </p:nvSpPr>
        <p:spPr>
          <a:xfrm>
            <a:off x="1874520" y="2395800"/>
            <a:ext cx="2011320" cy="71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1874520" y="23958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BTC tổng hợp &amp; chốt điểm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3886200" y="25603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5"/>
          <p:cNvSpPr/>
          <p:nvPr/>
        </p:nvSpPr>
        <p:spPr>
          <a:xfrm>
            <a:off x="4251960" y="2395800"/>
            <a:ext cx="2011320" cy="712800"/>
          </a:xfrm>
          <a:prstGeom prst="rect">
            <a:avLst/>
          </a:prstGeom>
          <a:solidFill>
            <a:srgbClr val="C8102E"/>
          </a:solidFill>
          <a:ln w="15875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6"/>
          <p:cNvSpPr/>
          <p:nvPr/>
        </p:nvSpPr>
        <p:spPr>
          <a:xfrm>
            <a:off x="4251960" y="23958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BCN xét duyệt — QĐ2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7"/>
          <p:cNvSpPr/>
          <p:nvPr/>
        </p:nvSpPr>
        <p:spPr>
          <a:xfrm>
            <a:off x="6263640" y="256032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18"/>
          <p:cNvSpPr/>
          <p:nvPr/>
        </p:nvSpPr>
        <p:spPr>
          <a:xfrm>
            <a:off x="6629400" y="2395800"/>
            <a:ext cx="2011320" cy="712800"/>
          </a:xfrm>
          <a:prstGeom prst="rect">
            <a:avLst/>
          </a:prstGeom>
          <a:solidFill>
            <a:srgbClr val="FFFFFF"/>
          </a:solidFill>
          <a:ln w="15875">
            <a:solidFill>
              <a:srgbClr val="C9CE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9"/>
          <p:cNvSpPr/>
          <p:nvPr/>
        </p:nvSpPr>
        <p:spPr>
          <a:xfrm>
            <a:off x="6629400" y="2395800"/>
            <a:ext cx="20113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tIns="360" rIns="360" bIns="3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Công bố KQ · cấp chứng nhận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20"/>
          <p:cNvSpPr/>
          <p:nvPr/>
        </p:nvSpPr>
        <p:spPr>
          <a:xfrm>
            <a:off x="548640" y="3456360"/>
            <a:ext cx="8046360" cy="76788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0" descr="preencoded.png"/>
          <p:cNvPicPr/>
          <p:nvPr/>
        </p:nvPicPr>
        <p:blipFill>
          <a:blip r:embed="rId1"/>
          <a:stretch/>
        </p:blipFill>
        <p:spPr>
          <a:xfrm>
            <a:off x="777240" y="3657600"/>
            <a:ext cx="34704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21"/>
          <p:cNvSpPr/>
          <p:nvPr/>
        </p:nvSpPr>
        <p:spPr>
          <a:xfrm>
            <a:off x="1280160" y="3529440"/>
            <a:ext cx="7177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Vòng chỉnh sửa:  </a:t>
            </a: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BCN có thể yêu cầu sửa — BTC chỉnh và nộp lại. Mỗi vòng tạo bản ghi mới kèm snapshot, lưu vết đầy đủ — điều bản giấy không làm được.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22"/>
          <p:cNvSpPr/>
          <p:nvPr/>
        </p:nvSpPr>
        <p:spPr>
          <a:xfrm>
            <a:off x="548640" y="44074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Ràng buộc cứng trong hệ thống: kết quả chỉ được công bố khi BCN đã phê duyệt.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23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7/9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PHẠM VI YÊU CẦU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Hệ thống phải làm được gì?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548640" y="1207080"/>
            <a:ext cx="4571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Luồng nghiệp vụ đầu–cuối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548640" y="162756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548640" y="16275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960120" y="164124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Tạo và đề xuất cuộc thi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6"/>
          <p:cNvSpPr/>
          <p:nvPr/>
        </p:nvSpPr>
        <p:spPr>
          <a:xfrm>
            <a:off x="548640" y="203904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7"/>
          <p:cNvSpPr/>
          <p:nvPr/>
        </p:nvSpPr>
        <p:spPr>
          <a:xfrm>
            <a:off x="548640" y="20390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8"/>
          <p:cNvSpPr/>
          <p:nvPr/>
        </p:nvSpPr>
        <p:spPr>
          <a:xfrm>
            <a:off x="960120" y="20527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BCN phê duyệt đề xuất (QĐ1)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9"/>
          <p:cNvSpPr/>
          <p:nvPr/>
        </p:nvSpPr>
        <p:spPr>
          <a:xfrm>
            <a:off x="548640" y="245052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0"/>
          <p:cNvSpPr/>
          <p:nvPr/>
        </p:nvSpPr>
        <p:spPr>
          <a:xfrm>
            <a:off x="548640" y="245052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1"/>
          <p:cNvSpPr/>
          <p:nvPr/>
        </p:nvSpPr>
        <p:spPr>
          <a:xfrm>
            <a:off x="960120" y="246420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Mở đăng ký — cá nhân hoặc theo đội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2"/>
          <p:cNvSpPr/>
          <p:nvPr/>
        </p:nvSpPr>
        <p:spPr>
          <a:xfrm>
            <a:off x="548640" y="286200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548640" y="286200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960120" y="287568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Nộp bài trực tuyến, nhiều phiên bản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5"/>
          <p:cNvSpPr/>
          <p:nvPr/>
        </p:nvSpPr>
        <p:spPr>
          <a:xfrm>
            <a:off x="548640" y="327348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6"/>
          <p:cNvSpPr/>
          <p:nvPr/>
        </p:nvSpPr>
        <p:spPr>
          <a:xfrm>
            <a:off x="548640" y="327348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7"/>
          <p:cNvSpPr/>
          <p:nvPr/>
        </p:nvSpPr>
        <p:spPr>
          <a:xfrm>
            <a:off x="960120" y="328716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Chấm theo rubric, nhiều giám khảo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8"/>
          <p:cNvSpPr/>
          <p:nvPr/>
        </p:nvSpPr>
        <p:spPr>
          <a:xfrm>
            <a:off x="548640" y="368496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9"/>
          <p:cNvSpPr/>
          <p:nvPr/>
        </p:nvSpPr>
        <p:spPr>
          <a:xfrm>
            <a:off x="548640" y="368496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0"/>
          <p:cNvSpPr/>
          <p:nvPr/>
        </p:nvSpPr>
        <p:spPr>
          <a:xfrm>
            <a:off x="960120" y="369864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BCN phê duyệt kết quả (QĐ2)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1"/>
          <p:cNvSpPr/>
          <p:nvPr/>
        </p:nvSpPr>
        <p:spPr>
          <a:xfrm>
            <a:off x="548640" y="4096440"/>
            <a:ext cx="292320" cy="29232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2"/>
          <p:cNvSpPr/>
          <p:nvPr/>
        </p:nvSpPr>
        <p:spPr>
          <a:xfrm>
            <a:off x="548640" y="4096440"/>
            <a:ext cx="2923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3"/>
          <p:cNvSpPr/>
          <p:nvPr/>
        </p:nvSpPr>
        <p:spPr>
          <a:xfrm>
            <a:off x="960120" y="4110120"/>
            <a:ext cx="4205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Công bố kết quả + chứng nhận QR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24"/>
          <p:cNvSpPr/>
          <p:nvPr/>
        </p:nvSpPr>
        <p:spPr>
          <a:xfrm>
            <a:off x="5486400" y="1207080"/>
            <a:ext cx="3108600" cy="33829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0" descr="preencoded.png"/>
          <p:cNvPicPr/>
          <p:nvPr/>
        </p:nvPicPr>
        <p:blipFill>
          <a:blip r:embed="rId1"/>
          <a:stretch/>
        </p:blipFill>
        <p:spPr>
          <a:xfrm>
            <a:off x="5715000" y="1426320"/>
            <a:ext cx="365400" cy="36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25"/>
          <p:cNvSpPr/>
          <p:nvPr/>
        </p:nvSpPr>
        <p:spPr>
          <a:xfrm>
            <a:off x="6199560" y="14630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Yêu cầu phi chức năng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6"/>
          <p:cNvSpPr/>
          <p:nvPr/>
        </p:nvSpPr>
        <p:spPr>
          <a:xfrm>
            <a:off x="5715000" y="2011680"/>
            <a:ext cx="274284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Phân quyền RBAC 5 vai trò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Audit log mọi thao tác dữ liệu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Responsive web + mobile, có APK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Thông báo trong app theo sự kiện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10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Chứng nhận xác thực công khai (QR)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7"/>
          <p:cNvSpPr/>
          <p:nvPr/>
        </p:nvSpPr>
        <p:spPr>
          <a:xfrm>
            <a:off x="7726680" y="482796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1 · 8/9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ext 0"/>
          <p:cNvSpPr/>
          <p:nvPr/>
        </p:nvSpPr>
        <p:spPr>
          <a:xfrm>
            <a:off x="640080" y="123444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Bài toán đã rõ.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640080" y="2148840"/>
            <a:ext cx="7680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Thay 4–5 kênh thủ công bằng một nền tảng duy nhất,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với quy trình phê duyệt hai cấp được số hóa hoàn toàn.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"/>
          <p:cNvSpPr/>
          <p:nvPr/>
        </p:nvSpPr>
        <p:spPr>
          <a:xfrm>
            <a:off x="640080" y="3611880"/>
            <a:ext cx="511560" cy="511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4" name="Image 0" descr="preencoded.png"/>
          <p:cNvPicPr/>
          <p:nvPr/>
        </p:nvPicPr>
        <p:blipFill>
          <a:blip r:embed="rId1"/>
          <a:stretch/>
        </p:blipFill>
        <p:spPr>
          <a:xfrm>
            <a:off x="773280" y="374508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5" name="Text 3"/>
          <p:cNvSpPr/>
          <p:nvPr/>
        </p:nvSpPr>
        <p:spPr>
          <a:xfrm>
            <a:off x="1325880" y="359352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Tiếp theo — Phần 2: Hệ thống được thiết kế thế nào?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Kiến trúc  ·  Cơ sở dữ liệu  ·  Giao diện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Image 0" descr="preencoded.png"/>
          <p:cNvPicPr/>
          <p:nvPr/>
        </p:nvPicPr>
        <p:blipFill>
          <a:blip r:embed="rId1">
            <a:alphaModFix amt="14000"/>
          </a:blip>
          <a:stretch/>
        </p:blipFill>
        <p:spPr>
          <a:xfrm>
            <a:off x="6537960" y="685800"/>
            <a:ext cx="191988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0"/>
          <p:cNvSpPr/>
          <p:nvPr/>
        </p:nvSpPr>
        <p:spPr>
          <a:xfrm>
            <a:off x="640080" y="868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PHẦN 2 / 3 — THIẾT KẾ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"/>
          <p:cNvSpPr/>
          <p:nvPr/>
        </p:nvSpPr>
        <p:spPr>
          <a:xfrm>
            <a:off x="640080" y="1188720"/>
            <a:ext cx="7863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Hệ thống được thiết kế thế nào?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2"/>
          <p:cNvSpPr/>
          <p:nvPr/>
        </p:nvSpPr>
        <p:spPr>
          <a:xfrm>
            <a:off x="640080" y="20574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Từ yêu cầu ở Phần 1 đến bản thiết kế hoàn chỉnh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"/>
          <p:cNvSpPr/>
          <p:nvPr/>
        </p:nvSpPr>
        <p:spPr>
          <a:xfrm>
            <a:off x="640080" y="254196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Người trình bày: Thành viên 2 — Nhóm N08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4"/>
          <p:cNvSpPr/>
          <p:nvPr/>
        </p:nvSpPr>
        <p:spPr>
          <a:xfrm>
            <a:off x="64008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5"/>
          <p:cNvSpPr/>
          <p:nvPr/>
        </p:nvSpPr>
        <p:spPr>
          <a:xfrm>
            <a:off x="64008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Kiến trúc &amp; công nghệ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6"/>
          <p:cNvSpPr/>
          <p:nvPr/>
        </p:nvSpPr>
        <p:spPr>
          <a:xfrm>
            <a:off x="26334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7"/>
          <p:cNvSpPr/>
          <p:nvPr/>
        </p:nvSpPr>
        <p:spPr>
          <a:xfrm>
            <a:off x="263340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Cơ sở dữ liệu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8"/>
          <p:cNvSpPr/>
          <p:nvPr/>
        </p:nvSpPr>
        <p:spPr>
          <a:xfrm>
            <a:off x="462672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9"/>
          <p:cNvSpPr/>
          <p:nvPr/>
        </p:nvSpPr>
        <p:spPr>
          <a:xfrm>
            <a:off x="462672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&amp; bảo mật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0"/>
          <p:cNvSpPr/>
          <p:nvPr/>
        </p:nvSpPr>
        <p:spPr>
          <a:xfrm>
            <a:off x="66204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1"/>
          <p:cNvSpPr/>
          <p:nvPr/>
        </p:nvSpPr>
        <p:spPr>
          <a:xfrm>
            <a:off x="662040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Giao diện &amp; design system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KIẾN TRÚC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Ba lớp rõ ràng — một codebase giao diện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2"/>
          <p:cNvSpPr/>
          <p:nvPr/>
        </p:nvSpPr>
        <p:spPr>
          <a:xfrm>
            <a:off x="548640" y="1371600"/>
            <a:ext cx="2395440" cy="162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3"/>
          <p:cNvSpPr/>
          <p:nvPr/>
        </p:nvSpPr>
        <p:spPr>
          <a:xfrm>
            <a:off x="713160" y="1536120"/>
            <a:ext cx="456840" cy="4568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3" name="Image 0" descr="preencoded.png"/>
          <p:cNvPicPr/>
          <p:nvPr/>
        </p:nvPicPr>
        <p:blipFill>
          <a:blip r:embed="rId1"/>
          <a:stretch/>
        </p:blipFill>
        <p:spPr>
          <a:xfrm>
            <a:off x="831960" y="16549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Text 4"/>
          <p:cNvSpPr/>
          <p:nvPr/>
        </p:nvSpPr>
        <p:spPr>
          <a:xfrm>
            <a:off x="1261800" y="153612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Flutter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5"/>
          <p:cNvSpPr/>
          <p:nvPr/>
        </p:nvSpPr>
        <p:spPr>
          <a:xfrm>
            <a:off x="749880" y="210312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Web (Cloudflare Pages)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APK Android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Responsive web / mobile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6"/>
          <p:cNvSpPr/>
          <p:nvPr/>
        </p:nvSpPr>
        <p:spPr>
          <a:xfrm>
            <a:off x="2926080" y="1920240"/>
            <a:ext cx="58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7"/>
          <p:cNvSpPr/>
          <p:nvPr/>
        </p:nvSpPr>
        <p:spPr>
          <a:xfrm>
            <a:off x="3493080" y="1371600"/>
            <a:ext cx="2395440" cy="162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8"/>
          <p:cNvSpPr/>
          <p:nvPr/>
        </p:nvSpPr>
        <p:spPr>
          <a:xfrm>
            <a:off x="3657600" y="1536120"/>
            <a:ext cx="456840" cy="4568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9" name="Image 1" descr="preencoded.png"/>
          <p:cNvPicPr/>
          <p:nvPr/>
        </p:nvPicPr>
        <p:blipFill>
          <a:blip r:embed="rId2"/>
          <a:stretch/>
        </p:blipFill>
        <p:spPr>
          <a:xfrm>
            <a:off x="3776400" y="16549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0" name="Text 9"/>
          <p:cNvSpPr/>
          <p:nvPr/>
        </p:nvSpPr>
        <p:spPr>
          <a:xfrm>
            <a:off x="4206240" y="153612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FastAPI · Python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3694320" y="210312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99 endpoints REST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14 nhóm router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Host trên Railway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1"/>
          <p:cNvSpPr/>
          <p:nvPr/>
        </p:nvSpPr>
        <p:spPr>
          <a:xfrm>
            <a:off x="5870520" y="1920240"/>
            <a:ext cx="585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⇄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12"/>
          <p:cNvSpPr/>
          <p:nvPr/>
        </p:nvSpPr>
        <p:spPr>
          <a:xfrm>
            <a:off x="6437520" y="1371600"/>
            <a:ext cx="2395440" cy="162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6602040" y="1536120"/>
            <a:ext cx="456840" cy="4568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5" name="Image 2" descr="preencoded.png"/>
          <p:cNvPicPr/>
          <p:nvPr/>
        </p:nvPicPr>
        <p:blipFill>
          <a:blip r:embed="rId3"/>
          <a:stretch/>
        </p:blipFill>
        <p:spPr>
          <a:xfrm>
            <a:off x="6720840" y="1654920"/>
            <a:ext cx="219240" cy="21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Text 14"/>
          <p:cNvSpPr/>
          <p:nvPr/>
        </p:nvSpPr>
        <p:spPr>
          <a:xfrm>
            <a:off x="7150680" y="1536120"/>
            <a:ext cx="1572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5"/>
          <p:cNvSpPr/>
          <p:nvPr/>
        </p:nvSpPr>
        <p:spPr>
          <a:xfrm>
            <a:off x="6638400" y="2103120"/>
            <a:ext cx="2029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43 bảng nghiệp vụ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Enum · constraint · trigger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SQLAlchemy 2.0 async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16"/>
          <p:cNvSpPr/>
          <p:nvPr/>
        </p:nvSpPr>
        <p:spPr>
          <a:xfrm>
            <a:off x="2743200" y="10789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REST / JSON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7"/>
          <p:cNvSpPr/>
          <p:nvPr/>
        </p:nvSpPr>
        <p:spPr>
          <a:xfrm>
            <a:off x="5687640" y="1078920"/>
            <a:ext cx="1645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SQL async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8"/>
          <p:cNvSpPr/>
          <p:nvPr/>
        </p:nvSpPr>
        <p:spPr>
          <a:xfrm>
            <a:off x="548640" y="3310200"/>
            <a:ext cx="2395440" cy="8683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9"/>
          <p:cNvSpPr/>
          <p:nvPr/>
        </p:nvSpPr>
        <p:spPr>
          <a:xfrm>
            <a:off x="713160" y="3401640"/>
            <a:ext cx="206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Cloudflare R2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0"/>
          <p:cNvSpPr/>
          <p:nvPr/>
        </p:nvSpPr>
        <p:spPr>
          <a:xfrm>
            <a:off x="713160" y="3675960"/>
            <a:ext cx="206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Lưu file bài thi theo cây contest/round/entry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1"/>
          <p:cNvSpPr/>
          <p:nvPr/>
        </p:nvSpPr>
        <p:spPr>
          <a:xfrm>
            <a:off x="3493080" y="3310200"/>
            <a:ext cx="2395440" cy="8683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22"/>
          <p:cNvSpPr/>
          <p:nvPr/>
        </p:nvSpPr>
        <p:spPr>
          <a:xfrm>
            <a:off x="3657600" y="3401640"/>
            <a:ext cx="206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Sentry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3"/>
          <p:cNvSpPr/>
          <p:nvPr/>
        </p:nvSpPr>
        <p:spPr>
          <a:xfrm>
            <a:off x="3657600" y="3675960"/>
            <a:ext cx="206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Bắt lỗi runtime cả frontend lẫn backend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24"/>
          <p:cNvSpPr/>
          <p:nvPr/>
        </p:nvSpPr>
        <p:spPr>
          <a:xfrm>
            <a:off x="6437520" y="3310200"/>
            <a:ext cx="2395440" cy="8683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5"/>
          <p:cNvSpPr/>
          <p:nvPr/>
        </p:nvSpPr>
        <p:spPr>
          <a:xfrm>
            <a:off x="6602040" y="3401640"/>
            <a:ext cx="206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JWT + OTP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26"/>
          <p:cNvSpPr/>
          <p:nvPr/>
        </p:nvSpPr>
        <p:spPr>
          <a:xfrm>
            <a:off x="6602040" y="3675960"/>
            <a:ext cx="206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Phiên đăng nhập + quên mật khẩu OTP 6 số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7"/>
          <p:cNvSpPr/>
          <p:nvPr/>
        </p:nvSpPr>
        <p:spPr>
          <a:xfrm>
            <a:off x="548640" y="44074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Toàn bộ chạy trên hạ tầng cloud miễn phí — nhưng deploy thật, người dùng truy cập được ngay.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8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2 · 2/9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LỰA CHỌN CÔNG NGHỆ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Vì sao chọn bộ ba này?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"/>
          <p:cNvSpPr/>
          <p:nvPr/>
        </p:nvSpPr>
        <p:spPr>
          <a:xfrm>
            <a:off x="548640" y="148140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4" name="Image 0" descr="preencoded.png"/>
          <p:cNvPicPr/>
          <p:nvPr/>
        </p:nvPicPr>
        <p:blipFill>
          <a:blip r:embed="rId1"/>
          <a:stretch/>
        </p:blipFill>
        <p:spPr>
          <a:xfrm>
            <a:off x="695880" y="16286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Text 3"/>
          <p:cNvSpPr/>
          <p:nvPr/>
        </p:nvSpPr>
        <p:spPr>
          <a:xfrm>
            <a:off x="1325880" y="137160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Flutter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1325880" y="1719000"/>
            <a:ext cx="7040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Viết một lần — chạy web, mobile responsive và APK Android. Nhóm 3 người không đủ sức nuôi 2 codebase riêng.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5"/>
          <p:cNvSpPr/>
          <p:nvPr/>
        </p:nvSpPr>
        <p:spPr>
          <a:xfrm>
            <a:off x="548640" y="256032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8" name="Image 1" descr="preencoded.png"/>
          <p:cNvPicPr/>
          <p:nvPr/>
        </p:nvPicPr>
        <p:blipFill>
          <a:blip r:embed="rId2"/>
          <a:stretch/>
        </p:blipFill>
        <p:spPr>
          <a:xfrm>
            <a:off x="695880" y="27075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Text 6"/>
          <p:cNvSpPr/>
          <p:nvPr/>
        </p:nvSpPr>
        <p:spPr>
          <a:xfrm>
            <a:off x="1325880" y="245052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FastAPI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7"/>
          <p:cNvSpPr/>
          <p:nvPr/>
        </p:nvSpPr>
        <p:spPr>
          <a:xfrm>
            <a:off x="1325880" y="2797920"/>
            <a:ext cx="7040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Python async hiệu năng tốt, tự sinh tài liệu Swagger cho 99 endpoints — frontend đối chiếu API không cần hỏi backend.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8"/>
          <p:cNvSpPr/>
          <p:nvPr/>
        </p:nvSpPr>
        <p:spPr>
          <a:xfrm>
            <a:off x="548640" y="363924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Image 2" descr="preencoded.png"/>
          <p:cNvPicPr/>
          <p:nvPr/>
        </p:nvPicPr>
        <p:blipFill>
          <a:blip r:embed="rId3"/>
          <a:stretch/>
        </p:blipFill>
        <p:spPr>
          <a:xfrm>
            <a:off x="695880" y="378684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ext 9"/>
          <p:cNvSpPr/>
          <p:nvPr/>
        </p:nvSpPr>
        <p:spPr>
          <a:xfrm>
            <a:off x="1325880" y="35294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0"/>
          <p:cNvSpPr/>
          <p:nvPr/>
        </p:nvSpPr>
        <p:spPr>
          <a:xfrm>
            <a:off x="1325880" y="3877200"/>
            <a:ext cx="7040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Ràng buộc nghiệp vụ đặt ngay tầng dữ liệu: enum trạng thái, unique theo vòng duyệt, trigger cập nhật — sai là chặn từ gốc.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1"/>
          <p:cNvSpPr/>
          <p:nvPr/>
        </p:nvSpPr>
        <p:spPr>
          <a:xfrm>
            <a:off x="548640" y="45262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Tiêu chí chung: miễn phí cho sinh viên, tài liệu tốt, và dùng được cho đồ án lẫn sản phẩm thật.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2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2 · 3/9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CƠ SỞ DỮ LIỆU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43 bảng — xoay quanh vòng đời cuộc thi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548640" y="1325880"/>
            <a:ext cx="2578320" cy="84096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694800" y="141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Người dùng &amp; phân quyền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694800" y="17100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users · roles · faculties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3310200" y="1325880"/>
            <a:ext cx="2578320" cy="84096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3456360" y="141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Cuộc thi &amp; vòng thi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3456360" y="17100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contests · rounds · sessions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8"/>
          <p:cNvSpPr/>
          <p:nvPr/>
        </p:nvSpPr>
        <p:spPr>
          <a:xfrm>
            <a:off x="6071760" y="1325880"/>
            <a:ext cx="2578320" cy="84096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6217920" y="14173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Đăng ký &amp; đội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6217920" y="17100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entries · teams · members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1"/>
          <p:cNvSpPr/>
          <p:nvPr/>
        </p:nvSpPr>
        <p:spPr>
          <a:xfrm>
            <a:off x="548640" y="2313360"/>
            <a:ext cx="2578320" cy="84096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694800" y="24048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Bài nộp &amp; file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13"/>
          <p:cNvSpPr/>
          <p:nvPr/>
        </p:nvSpPr>
        <p:spPr>
          <a:xfrm>
            <a:off x="694800" y="26974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submissions · versions · files (R2)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14"/>
          <p:cNvSpPr/>
          <p:nvPr/>
        </p:nvSpPr>
        <p:spPr>
          <a:xfrm>
            <a:off x="3310200" y="2313360"/>
            <a:ext cx="2578320" cy="84096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3456360" y="24048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Chấm &amp; kết quả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3456360" y="26974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criteria · scores · results · certificates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17"/>
          <p:cNvSpPr/>
          <p:nvPr/>
        </p:nvSpPr>
        <p:spPr>
          <a:xfrm>
            <a:off x="6071760" y="2313360"/>
            <a:ext cx="2578320" cy="84096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8"/>
          <p:cNvSpPr/>
          <p:nvPr/>
        </p:nvSpPr>
        <p:spPr>
          <a:xfrm>
            <a:off x="6217920" y="240480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Vận hành hệ thống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9"/>
          <p:cNvSpPr/>
          <p:nvPr/>
        </p:nvSpPr>
        <p:spPr>
          <a:xfrm>
            <a:off x="6217920" y="269748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notifications · audit_logs · configs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Shape 20"/>
          <p:cNvSpPr/>
          <p:nvPr/>
        </p:nvSpPr>
        <p:spPr>
          <a:xfrm>
            <a:off x="548640" y="3456360"/>
            <a:ext cx="8046360" cy="84096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777240" y="3547800"/>
            <a:ext cx="7589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Trái tim của thiết kế — bảng workflow_approvals:  </a:t>
            </a: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mỗi lần trình duyệt là một bản ghi mới (QĐ1/QĐ2, vòng sửa tăng dần) kèm snapshot JSON — đối chiếu được mọi phiên bản, đúng yêu cầu lưu vết ở Phần 1.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548640" y="44989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Sơ đồ ER đầy đủ trong 08-database (er-diagram v02) — sẵn sàng nếu thầy cô muốn xem chi tiết.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3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2 · 4/9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API &amp; BẢO MẬT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REST API có kỷ luật — bảo mật có kiểm chứng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2"/>
          <p:cNvSpPr/>
          <p:nvPr/>
        </p:nvSpPr>
        <p:spPr>
          <a:xfrm>
            <a:off x="548640" y="1325880"/>
            <a:ext cx="1508400" cy="91404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548640" y="138996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99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548640" y="18745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endpoints REST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5"/>
          <p:cNvSpPr/>
          <p:nvPr/>
        </p:nvSpPr>
        <p:spPr>
          <a:xfrm>
            <a:off x="2240280" y="1325880"/>
            <a:ext cx="1508400" cy="91404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6"/>
          <p:cNvSpPr/>
          <p:nvPr/>
        </p:nvSpPr>
        <p:spPr>
          <a:xfrm>
            <a:off x="2240280" y="138996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7"/>
          <p:cNvSpPr/>
          <p:nvPr/>
        </p:nvSpPr>
        <p:spPr>
          <a:xfrm>
            <a:off x="2240280" y="18745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nhóm router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8"/>
          <p:cNvSpPr/>
          <p:nvPr/>
        </p:nvSpPr>
        <p:spPr>
          <a:xfrm>
            <a:off x="3931920" y="1325880"/>
            <a:ext cx="1508400" cy="91404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9"/>
          <p:cNvSpPr/>
          <p:nvPr/>
        </p:nvSpPr>
        <p:spPr>
          <a:xfrm>
            <a:off x="3931920" y="1389960"/>
            <a:ext cx="1508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10"/>
          <p:cNvSpPr/>
          <p:nvPr/>
        </p:nvSpPr>
        <p:spPr>
          <a:xfrm>
            <a:off x="3931920" y="1874520"/>
            <a:ext cx="1508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vai trò RBAC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11"/>
          <p:cNvSpPr/>
          <p:nvPr/>
        </p:nvSpPr>
        <p:spPr>
          <a:xfrm>
            <a:off x="548640" y="2514600"/>
            <a:ext cx="49374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JWT + refresh token — mobile có đăng nhập sinh trắc học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Phân quyền 2 tầng: vai trò + phạm vi dữ liệu (own / assigned / faculty)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Quên mật khẩu bằng OTP 6 số, cấu hình được trong system_configs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9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Audit middleware: tự ghi mọi thao tác ghi dữ liệu vào audit_logs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12"/>
          <p:cNvSpPr/>
          <p:nvPr/>
        </p:nvSpPr>
        <p:spPr>
          <a:xfrm>
            <a:off x="5806440" y="1325880"/>
            <a:ext cx="2788560" cy="3017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13"/>
          <p:cNvSpPr/>
          <p:nvPr/>
        </p:nvSpPr>
        <p:spPr>
          <a:xfrm>
            <a:off x="6903720" y="1600200"/>
            <a:ext cx="603000" cy="60300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5" name="Image 0" descr="preencoded.png"/>
          <p:cNvPicPr/>
          <p:nvPr/>
        </p:nvPicPr>
        <p:blipFill>
          <a:blip r:embed="rId1"/>
          <a:stretch/>
        </p:blipFill>
        <p:spPr>
          <a:xfrm>
            <a:off x="7060680" y="1757160"/>
            <a:ext cx="289440" cy="28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Text 14"/>
          <p:cNvSpPr/>
          <p:nvPr/>
        </p:nvSpPr>
        <p:spPr>
          <a:xfrm>
            <a:off x="5943600" y="2377440"/>
            <a:ext cx="2514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securityheaders.com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5"/>
          <p:cNvSpPr/>
          <p:nvPr/>
        </p:nvSpPr>
        <p:spPr>
          <a:xfrm>
            <a:off x="5943600" y="2651760"/>
            <a:ext cx="2514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A+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16"/>
          <p:cNvSpPr/>
          <p:nvPr/>
        </p:nvSpPr>
        <p:spPr>
          <a:xfrm>
            <a:off x="5943600" y="3520440"/>
            <a:ext cx="2514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6 security headers chuẩn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(HSTS, CSP, X-Frame…)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7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2 · 5/9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THIẾT KẾ GIAO DIỆN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Từ wireframe đến code — không nhảy cóc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2"/>
          <p:cNvSpPr/>
          <p:nvPr/>
        </p:nvSpPr>
        <p:spPr>
          <a:xfrm>
            <a:off x="548640" y="1417320"/>
            <a:ext cx="1810080" cy="1096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3"/>
          <p:cNvSpPr/>
          <p:nvPr/>
        </p:nvSpPr>
        <p:spPr>
          <a:xfrm>
            <a:off x="658440" y="1536120"/>
            <a:ext cx="1590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Wireframe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"/>
          <p:cNvSpPr/>
          <p:nvPr/>
        </p:nvSpPr>
        <p:spPr>
          <a:xfrm>
            <a:off x="658440" y="184716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phác luồng màn hình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5"/>
          <p:cNvSpPr/>
          <p:nvPr/>
        </p:nvSpPr>
        <p:spPr>
          <a:xfrm>
            <a:off x="548640" y="2606040"/>
            <a:ext cx="1810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04-wireframes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6"/>
          <p:cNvSpPr/>
          <p:nvPr/>
        </p:nvSpPr>
        <p:spPr>
          <a:xfrm>
            <a:off x="2331720" y="173736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Shape 7"/>
          <p:cNvSpPr/>
          <p:nvPr/>
        </p:nvSpPr>
        <p:spPr>
          <a:xfrm>
            <a:off x="2670120" y="1417320"/>
            <a:ext cx="1810080" cy="1096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8"/>
          <p:cNvSpPr/>
          <p:nvPr/>
        </p:nvSpPr>
        <p:spPr>
          <a:xfrm>
            <a:off x="2779920" y="1536120"/>
            <a:ext cx="1590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Mockup HTML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9"/>
          <p:cNvSpPr/>
          <p:nvPr/>
        </p:nvSpPr>
        <p:spPr>
          <a:xfrm>
            <a:off x="2779920" y="184716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4 vai trò · 2 vòng sửa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0"/>
          <p:cNvSpPr/>
          <p:nvPr/>
        </p:nvSpPr>
        <p:spPr>
          <a:xfrm>
            <a:off x="2670120" y="2606040"/>
            <a:ext cx="1810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05-mockups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1"/>
          <p:cNvSpPr/>
          <p:nvPr/>
        </p:nvSpPr>
        <p:spPr>
          <a:xfrm>
            <a:off x="4453200" y="173736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2"/>
          <p:cNvSpPr/>
          <p:nvPr/>
        </p:nvSpPr>
        <p:spPr>
          <a:xfrm>
            <a:off x="4791600" y="1417320"/>
            <a:ext cx="1810080" cy="1096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3"/>
          <p:cNvSpPr/>
          <p:nvPr/>
        </p:nvSpPr>
        <p:spPr>
          <a:xfrm>
            <a:off x="4901040" y="1536120"/>
            <a:ext cx="1590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Design system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14"/>
          <p:cNvSpPr/>
          <p:nvPr/>
        </p:nvSpPr>
        <p:spPr>
          <a:xfrm>
            <a:off x="4901040" y="184716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tokens màu/cỡ/chuyển động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15"/>
          <p:cNvSpPr/>
          <p:nvPr/>
        </p:nvSpPr>
        <p:spPr>
          <a:xfrm>
            <a:off x="4791600" y="2606040"/>
            <a:ext cx="1810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06-design-system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6"/>
          <p:cNvSpPr/>
          <p:nvPr/>
        </p:nvSpPr>
        <p:spPr>
          <a:xfrm>
            <a:off x="6574680" y="1737360"/>
            <a:ext cx="365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hape 17"/>
          <p:cNvSpPr/>
          <p:nvPr/>
        </p:nvSpPr>
        <p:spPr>
          <a:xfrm>
            <a:off x="6912720" y="1417320"/>
            <a:ext cx="1810080" cy="1096920"/>
          </a:xfrm>
          <a:prstGeom prst="rect">
            <a:avLst/>
          </a:prstGeom>
          <a:solidFill>
            <a:srgbClr val="C8102E"/>
          </a:solidFill>
          <a:ln w="19050">
            <a:solidFill>
              <a:srgbClr val="C810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18"/>
          <p:cNvSpPr/>
          <p:nvPr/>
        </p:nvSpPr>
        <p:spPr>
          <a:xfrm>
            <a:off x="7022520" y="1536120"/>
            <a:ext cx="1590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 Flutter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9"/>
          <p:cNvSpPr/>
          <p:nvPr/>
        </p:nvSpPr>
        <p:spPr>
          <a:xfrm>
            <a:off x="7022520" y="1847160"/>
            <a:ext cx="15908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ráp theo thiết kế đã chốt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20"/>
          <p:cNvSpPr/>
          <p:nvPr/>
        </p:nvSpPr>
        <p:spPr>
          <a:xfrm>
            <a:off x="6912720" y="2606040"/>
            <a:ext cx="181008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09-implementation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1"/>
          <p:cNvSpPr/>
          <p:nvPr/>
        </p:nvSpPr>
        <p:spPr>
          <a:xfrm>
            <a:off x="548640" y="3154680"/>
            <a:ext cx="8046360" cy="91404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22"/>
          <p:cNvSpPr/>
          <p:nvPr/>
        </p:nvSpPr>
        <p:spPr>
          <a:xfrm>
            <a:off x="777240" y="3255120"/>
            <a:ext cx="75891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Mockup HTML riêng cho từng vai trò (SV / GV / BCN / Admin), sửa 2 vòng trước khi code.  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Chốt luồng nghiệp vụ sớm trên mockup rẻ hơn nhiều so với đập đi xây lại trong Flutter.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Text 23"/>
          <p:cNvSpPr/>
          <p:nvPr/>
        </p:nvSpPr>
        <p:spPr>
          <a:xfrm>
            <a:off x="548640" y="427932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Mỗi giai đoạn là một folder trong repo — thầy cô truy vết được toàn bộ quá trình thiết kế.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24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2 · 6/9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DESIGN SYSTEM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Một ngôn ngữ hình ảnh — máy kiểm tra được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2"/>
          <p:cNvSpPr/>
          <p:nvPr/>
        </p:nvSpPr>
        <p:spPr>
          <a:xfrm>
            <a:off x="548640" y="1371600"/>
            <a:ext cx="3977280" cy="131652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"/>
          <p:cNvSpPr/>
          <p:nvPr/>
        </p:nvSpPr>
        <p:spPr>
          <a:xfrm>
            <a:off x="731520" y="174636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9" name="Image 0" descr="preencoded.png"/>
          <p:cNvPicPr/>
          <p:nvPr/>
        </p:nvPicPr>
        <p:blipFill>
          <a:blip r:embed="rId1"/>
          <a:stretch/>
        </p:blipFill>
        <p:spPr>
          <a:xfrm>
            <a:off x="878760" y="1893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0" name="Text 4"/>
          <p:cNvSpPr/>
          <p:nvPr/>
        </p:nvSpPr>
        <p:spPr>
          <a:xfrm>
            <a:off x="1444680" y="15361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Design tokens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5"/>
          <p:cNvSpPr/>
          <p:nvPr/>
        </p:nvSpPr>
        <p:spPr>
          <a:xfrm>
            <a:off x="1444680" y="18288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AppColors / Spacing / Radius / Duration — cấm hex và số lẻ trong code màn hình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6"/>
          <p:cNvSpPr/>
          <p:nvPr/>
        </p:nvSpPr>
        <p:spPr>
          <a:xfrm>
            <a:off x="4709160" y="1371600"/>
            <a:ext cx="3977280" cy="131652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7"/>
          <p:cNvSpPr/>
          <p:nvPr/>
        </p:nvSpPr>
        <p:spPr>
          <a:xfrm>
            <a:off x="4892040" y="174636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4" name="Image 1" descr="preencoded.png"/>
          <p:cNvPicPr/>
          <p:nvPr/>
        </p:nvPicPr>
        <p:blipFill>
          <a:blip r:embed="rId2"/>
          <a:stretch/>
        </p:blipFill>
        <p:spPr>
          <a:xfrm>
            <a:off x="5039280" y="18939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 8"/>
          <p:cNvSpPr/>
          <p:nvPr/>
        </p:nvSpPr>
        <p:spPr>
          <a:xfrm>
            <a:off x="5605200" y="15361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Màu PTIT đỏ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9"/>
          <p:cNvSpPr/>
          <p:nvPr/>
        </p:nvSpPr>
        <p:spPr>
          <a:xfrm>
            <a:off x="5605200" y="18288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Thang OKLCH 9 nấc (ptitRed50–900), tương phản đạt chuẩn WCAG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10"/>
          <p:cNvSpPr/>
          <p:nvPr/>
        </p:nvSpPr>
        <p:spPr>
          <a:xfrm>
            <a:off x="548640" y="2853000"/>
            <a:ext cx="3977280" cy="131652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11"/>
          <p:cNvSpPr/>
          <p:nvPr/>
        </p:nvSpPr>
        <p:spPr>
          <a:xfrm>
            <a:off x="731520" y="322776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Image 2" descr="preencoded.png"/>
          <p:cNvPicPr/>
          <p:nvPr/>
        </p:nvPicPr>
        <p:blipFill>
          <a:blip r:embed="rId3"/>
          <a:stretch/>
        </p:blipFill>
        <p:spPr>
          <a:xfrm>
            <a:off x="878760" y="33753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Text 12"/>
          <p:cNvSpPr/>
          <p:nvPr/>
        </p:nvSpPr>
        <p:spPr>
          <a:xfrm>
            <a:off x="1444680" y="30175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Light + Dark mode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3"/>
          <p:cNvSpPr/>
          <p:nvPr/>
        </p:nvSpPr>
        <p:spPr>
          <a:xfrm>
            <a:off x="1444680" y="33102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484 token phủ cả 2 chế độ, toggle lưu theo người dùng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4"/>
          <p:cNvSpPr/>
          <p:nvPr/>
        </p:nvSpPr>
        <p:spPr>
          <a:xfrm>
            <a:off x="4709160" y="2853000"/>
            <a:ext cx="3977280" cy="131652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5"/>
          <p:cNvSpPr/>
          <p:nvPr/>
        </p:nvSpPr>
        <p:spPr>
          <a:xfrm>
            <a:off x="4892040" y="322776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4" name="Image 3" descr="preencoded.png"/>
          <p:cNvPicPr/>
          <p:nvPr/>
        </p:nvPicPr>
        <p:blipFill>
          <a:blip r:embed="rId4"/>
          <a:stretch/>
        </p:blipFill>
        <p:spPr>
          <a:xfrm>
            <a:off x="5039280" y="337536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5" name="Text 16"/>
          <p:cNvSpPr/>
          <p:nvPr/>
        </p:nvSpPr>
        <p:spPr>
          <a:xfrm>
            <a:off x="5605200" y="301752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Lint tự động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7"/>
          <p:cNvSpPr/>
          <p:nvPr/>
        </p:nvSpPr>
        <p:spPr>
          <a:xfrm>
            <a:off x="5605200" y="3310200"/>
            <a:ext cx="292572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design_lint.ps1 quét vi phạm trước commit + checklist review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8"/>
          <p:cNvSpPr/>
          <p:nvPr/>
        </p:nvSpPr>
        <p:spPr>
          <a:xfrm>
            <a:off x="548640" y="45262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Kết quả đo được: vi phạm style giảm 334 → 269 ngay đợt đầu; 2 nhóm vi phạm nặng nhất về 0.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9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2 · 7/9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RESPONSIVE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Một giao diện — vừa màn lớn, vừa điện thoại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"/>
          <p:cNvSpPr/>
          <p:nvPr/>
        </p:nvSpPr>
        <p:spPr>
          <a:xfrm>
            <a:off x="548640" y="1371600"/>
            <a:ext cx="3977280" cy="1828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3"/>
          <p:cNvSpPr/>
          <p:nvPr/>
        </p:nvSpPr>
        <p:spPr>
          <a:xfrm>
            <a:off x="777240" y="15361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Web ≥ 900 px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4"/>
          <p:cNvSpPr/>
          <p:nvPr/>
        </p:nvSpPr>
        <p:spPr>
          <a:xfrm>
            <a:off x="777240" y="1874520"/>
            <a:ext cx="3565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Sidebar nhóm chức năng theo vai trò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Thu gọn 240 ↔ 64 px, nhớ lựa chọn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Bảng dữ liệu rộng, bulk action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5"/>
          <p:cNvSpPr/>
          <p:nvPr/>
        </p:nvSpPr>
        <p:spPr>
          <a:xfrm>
            <a:off x="4617720" y="1371600"/>
            <a:ext cx="3977280" cy="182844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6"/>
          <p:cNvSpPr/>
          <p:nvPr/>
        </p:nvSpPr>
        <p:spPr>
          <a:xfrm>
            <a:off x="4846320" y="1536120"/>
            <a:ext cx="35658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Mobile &amp; APK &lt; 768 px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7"/>
          <p:cNvSpPr/>
          <p:nvPr/>
        </p:nvSpPr>
        <p:spPr>
          <a:xfrm>
            <a:off x="4846320" y="1874520"/>
            <a:ext cx="356580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Bottom nav + drawer, thao tác 1 tay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Đăng nhập sinh trắc học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601"/>
              </a:spcAft>
              <a:buClr>
                <a:srgbClr val="1F243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Cùng codebase — không màn nào bị bỏ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8"/>
          <p:cNvSpPr/>
          <p:nvPr/>
        </p:nvSpPr>
        <p:spPr>
          <a:xfrm>
            <a:off x="548640" y="3520440"/>
            <a:ext cx="2578320" cy="8226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9"/>
          <p:cNvSpPr/>
          <p:nvPr/>
        </p:nvSpPr>
        <p:spPr>
          <a:xfrm>
            <a:off x="694800" y="3611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Skeleton loading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0"/>
          <p:cNvSpPr/>
          <p:nvPr/>
        </p:nvSpPr>
        <p:spPr>
          <a:xfrm>
            <a:off x="694800" y="38862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theo theme sáng/tối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11"/>
          <p:cNvSpPr/>
          <p:nvPr/>
        </p:nvSpPr>
        <p:spPr>
          <a:xfrm>
            <a:off x="3310200" y="3520440"/>
            <a:ext cx="2578320" cy="8226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2"/>
          <p:cNvSpPr/>
          <p:nvPr/>
        </p:nvSpPr>
        <p:spPr>
          <a:xfrm>
            <a:off x="3456360" y="3611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Empty state có CTA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3"/>
          <p:cNvSpPr/>
          <p:nvPr/>
        </p:nvSpPr>
        <p:spPr>
          <a:xfrm>
            <a:off x="3456360" y="38862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không màn hình trắng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14"/>
          <p:cNvSpPr/>
          <p:nvPr/>
        </p:nvSpPr>
        <p:spPr>
          <a:xfrm>
            <a:off x="6071760" y="3520440"/>
            <a:ext cx="2578320" cy="8226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5"/>
          <p:cNvSpPr/>
          <p:nvPr/>
        </p:nvSpPr>
        <p:spPr>
          <a:xfrm>
            <a:off x="6217920" y="361188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Countdown deadline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16"/>
          <p:cNvSpPr/>
          <p:nvPr/>
        </p:nvSpPr>
        <p:spPr>
          <a:xfrm>
            <a:off x="6217920" y="388620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SV không lỡ hạn nộp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Text 17"/>
          <p:cNvSpPr/>
          <p:nvPr/>
        </p:nvSpPr>
        <p:spPr>
          <a:xfrm>
            <a:off x="548640" y="45262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Chi tiết trải nghiệm được chuẩn hóa thành widget dùng chung — màn nào cũng đồng nhất.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18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2 · 8/9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0"/>
          <p:cNvSpPr/>
          <p:nvPr/>
        </p:nvSpPr>
        <p:spPr>
          <a:xfrm>
            <a:off x="640080" y="123444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Thiết kế đã thành hình.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640080" y="2148840"/>
            <a:ext cx="7680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Ba lớp kiến trúc, 43 bảng dữ liệu, một design system có lint giữ kỷ luật.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Câu hỏi còn lại: chạy thật có tốt như trên giấy?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2"/>
          <p:cNvSpPr/>
          <p:nvPr/>
        </p:nvSpPr>
        <p:spPr>
          <a:xfrm>
            <a:off x="640080" y="3611880"/>
            <a:ext cx="511560" cy="511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0" descr="preencoded.png"/>
          <p:cNvPicPr/>
          <p:nvPr/>
        </p:nvPicPr>
        <p:blipFill>
          <a:blip r:embed="rId1"/>
          <a:stretch/>
        </p:blipFill>
        <p:spPr>
          <a:xfrm>
            <a:off x="773280" y="374508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3"/>
          <p:cNvSpPr/>
          <p:nvPr/>
        </p:nvSpPr>
        <p:spPr>
          <a:xfrm>
            <a:off x="1325880" y="3593520"/>
            <a:ext cx="6857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Tiếp theo — Phần 3: Sản phẩm, chất lượng &amp; demo trực tiếp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Kết quả  ·  Kiểm thử  ·  Demo  ·  Kết luận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Image 0" descr="preencoded.png"/>
          <p:cNvPicPr/>
          <p:nvPr/>
        </p:nvPicPr>
        <p:blipFill>
          <a:blip r:embed="rId1">
            <a:alphaModFix amt="14000"/>
          </a:blip>
          <a:stretch/>
        </p:blipFill>
        <p:spPr>
          <a:xfrm>
            <a:off x="6537960" y="685800"/>
            <a:ext cx="191988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Text 0"/>
          <p:cNvSpPr/>
          <p:nvPr/>
        </p:nvSpPr>
        <p:spPr>
          <a:xfrm>
            <a:off x="640080" y="86868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pc="300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PHẦN 3 / 3 — SẢN PHẨM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1"/>
          <p:cNvSpPr/>
          <p:nvPr/>
        </p:nvSpPr>
        <p:spPr>
          <a:xfrm>
            <a:off x="640080" y="1188720"/>
            <a:ext cx="78634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Chạy thật, đo thật, demo thật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"/>
          <p:cNvSpPr/>
          <p:nvPr/>
        </p:nvSpPr>
        <p:spPr>
          <a:xfrm>
            <a:off x="640080" y="20574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Kết quả triển khai · chất lượng · demo trực tiếp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640080" y="2541960"/>
            <a:ext cx="78634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Người trình bày: Thành viên 3 — Nhóm N08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4"/>
          <p:cNvSpPr/>
          <p:nvPr/>
        </p:nvSpPr>
        <p:spPr>
          <a:xfrm>
            <a:off x="64008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01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5"/>
          <p:cNvSpPr/>
          <p:nvPr/>
        </p:nvSpPr>
        <p:spPr>
          <a:xfrm>
            <a:off x="64008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Kết quả triển khai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6"/>
          <p:cNvSpPr/>
          <p:nvPr/>
        </p:nvSpPr>
        <p:spPr>
          <a:xfrm>
            <a:off x="26334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7"/>
          <p:cNvSpPr/>
          <p:nvPr/>
        </p:nvSpPr>
        <p:spPr>
          <a:xfrm>
            <a:off x="263340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Kiểm thử &amp; chất lượng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8"/>
          <p:cNvSpPr/>
          <p:nvPr/>
        </p:nvSpPr>
        <p:spPr>
          <a:xfrm>
            <a:off x="462672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9"/>
          <p:cNvSpPr/>
          <p:nvPr/>
        </p:nvSpPr>
        <p:spPr>
          <a:xfrm>
            <a:off x="462672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Demo trực tiếp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0"/>
          <p:cNvSpPr/>
          <p:nvPr/>
        </p:nvSpPr>
        <p:spPr>
          <a:xfrm>
            <a:off x="6620400" y="374904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3C5CB"/>
                </a:solidFill>
                <a:effectLst/>
                <a:uFillTx/>
                <a:latin typeface="Cambria"/>
                <a:ea typeface="Cambria"/>
              </a:rPr>
              <a:t>04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1"/>
          <p:cNvSpPr/>
          <p:nvPr/>
        </p:nvSpPr>
        <p:spPr>
          <a:xfrm>
            <a:off x="6620400" y="4160520"/>
            <a:ext cx="1828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Kết luận &amp; hướng đi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KẾT QUẢ TRIỂN KHAI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Sản phẩm hoàn chỉnh — không phải bản mẫu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2"/>
          <p:cNvSpPr/>
          <p:nvPr/>
        </p:nvSpPr>
        <p:spPr>
          <a:xfrm>
            <a:off x="548640" y="1417320"/>
            <a:ext cx="1892520" cy="17827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3"/>
          <p:cNvSpPr/>
          <p:nvPr/>
        </p:nvSpPr>
        <p:spPr>
          <a:xfrm>
            <a:off x="548640" y="1627560"/>
            <a:ext cx="1892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30/30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4"/>
          <p:cNvSpPr/>
          <p:nvPr/>
        </p:nvSpPr>
        <p:spPr>
          <a:xfrm>
            <a:off x="548640" y="2304360"/>
            <a:ext cx="1892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chức năng đề ra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5"/>
          <p:cNvSpPr/>
          <p:nvPr/>
        </p:nvSpPr>
        <p:spPr>
          <a:xfrm>
            <a:off x="621720" y="2615040"/>
            <a:ext cx="174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đều có UI hoàn chỉnh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Shape 6"/>
          <p:cNvSpPr/>
          <p:nvPr/>
        </p:nvSpPr>
        <p:spPr>
          <a:xfrm>
            <a:off x="2624400" y="1417320"/>
            <a:ext cx="1892520" cy="17827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7"/>
          <p:cNvSpPr/>
          <p:nvPr/>
        </p:nvSpPr>
        <p:spPr>
          <a:xfrm>
            <a:off x="2624400" y="1627560"/>
            <a:ext cx="1892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99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8"/>
          <p:cNvSpPr/>
          <p:nvPr/>
        </p:nvSpPr>
        <p:spPr>
          <a:xfrm>
            <a:off x="2624400" y="2304360"/>
            <a:ext cx="1892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API endpoints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9"/>
          <p:cNvSpPr/>
          <p:nvPr/>
        </p:nvSpPr>
        <p:spPr>
          <a:xfrm>
            <a:off x="2697480" y="2615040"/>
            <a:ext cx="174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kèm tài liệu Swagger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Shape 10"/>
          <p:cNvSpPr/>
          <p:nvPr/>
        </p:nvSpPr>
        <p:spPr>
          <a:xfrm>
            <a:off x="4700160" y="1417320"/>
            <a:ext cx="1892520" cy="17827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11"/>
          <p:cNvSpPr/>
          <p:nvPr/>
        </p:nvSpPr>
        <p:spPr>
          <a:xfrm>
            <a:off x="4700160" y="1627560"/>
            <a:ext cx="1892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43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2"/>
          <p:cNvSpPr/>
          <p:nvPr/>
        </p:nvSpPr>
        <p:spPr>
          <a:xfrm>
            <a:off x="4700160" y="2304360"/>
            <a:ext cx="1892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bảng dữ liệu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3"/>
          <p:cNvSpPr/>
          <p:nvPr/>
        </p:nvSpPr>
        <p:spPr>
          <a:xfrm>
            <a:off x="4773240" y="2615040"/>
            <a:ext cx="174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đúng schema thiết kế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14"/>
          <p:cNvSpPr/>
          <p:nvPr/>
        </p:nvSpPr>
        <p:spPr>
          <a:xfrm>
            <a:off x="6775560" y="1417320"/>
            <a:ext cx="1892520" cy="178272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15"/>
          <p:cNvSpPr/>
          <p:nvPr/>
        </p:nvSpPr>
        <p:spPr>
          <a:xfrm>
            <a:off x="6775560" y="1627560"/>
            <a:ext cx="1892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6"/>
          <p:cNvSpPr/>
          <p:nvPr/>
        </p:nvSpPr>
        <p:spPr>
          <a:xfrm>
            <a:off x="6775560" y="2304360"/>
            <a:ext cx="18925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kênh chạy thật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7"/>
          <p:cNvSpPr/>
          <p:nvPr/>
        </p:nvSpPr>
        <p:spPr>
          <a:xfrm>
            <a:off x="6849000" y="2615040"/>
            <a:ext cx="1746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Web · Mobile · APK ~26 MB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8"/>
          <p:cNvSpPr/>
          <p:nvPr/>
        </p:nvSpPr>
        <p:spPr>
          <a:xfrm>
            <a:off x="548640" y="361188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Đang chạy thật:  </a:t>
            </a:r>
            <a:r>
              <a:rPr lang="en-US" sz="1250" b="0" u="none" strike="noStrike">
                <a:solidFill>
                  <a:srgbClr val="374151"/>
                </a:solidFill>
                <a:effectLst/>
                <a:uFillTx/>
                <a:latin typeface="Calibri"/>
                <a:ea typeface="Calibri"/>
              </a:rPr>
              <a:t>backend trên Railway  ·  web trên Cloudflare Pages (ptit-contest-app.pages.dev)  ·  giám sát lỗi Sentry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9"/>
          <p:cNvSpPr/>
          <p:nvPr/>
        </p:nvSpPr>
        <p:spPr>
          <a:xfrm>
            <a:off x="548640" y="411480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Số chức năng đối chiếu ma trận traceability v03 (02-requirements) — từng dòng yêu cầu ↔ API ↔ màn hình.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20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3 · 2/9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KIỂM THỬ &amp; CHẤT LƯỢNG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Chất lượng được đo, không tự nhận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2"/>
          <p:cNvSpPr/>
          <p:nvPr/>
        </p:nvSpPr>
        <p:spPr>
          <a:xfrm>
            <a:off x="548640" y="1371600"/>
            <a:ext cx="3977280" cy="135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3"/>
          <p:cNvSpPr/>
          <p:nvPr/>
        </p:nvSpPr>
        <p:spPr>
          <a:xfrm>
            <a:off x="731520" y="176472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1" name="Image 0" descr="preencoded.png"/>
          <p:cNvPicPr/>
          <p:nvPr/>
        </p:nvPicPr>
        <p:blipFill>
          <a:blip r:embed="rId1"/>
          <a:stretch/>
        </p:blipFill>
        <p:spPr>
          <a:xfrm>
            <a:off x="878760" y="19123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Text 4"/>
          <p:cNvSpPr/>
          <p:nvPr/>
        </p:nvSpPr>
        <p:spPr>
          <a:xfrm>
            <a:off x="1444680" y="15177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UX audit 24 màn hình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5"/>
          <p:cNvSpPr/>
          <p:nvPr/>
        </p:nvSpPr>
        <p:spPr>
          <a:xfrm>
            <a:off x="1444680" y="1810440"/>
            <a:ext cx="29257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25 phát hiện được lập danh sách — đã đóng 100% lỗi Nghiêm trọng &amp; Lớn qua 3 sprint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6"/>
          <p:cNvSpPr/>
          <p:nvPr/>
        </p:nvSpPr>
        <p:spPr>
          <a:xfrm>
            <a:off x="4709160" y="1371600"/>
            <a:ext cx="3977280" cy="135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Shape 7"/>
          <p:cNvSpPr/>
          <p:nvPr/>
        </p:nvSpPr>
        <p:spPr>
          <a:xfrm>
            <a:off x="4892040" y="176472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6" name="Image 1" descr="preencoded.png"/>
          <p:cNvPicPr/>
          <p:nvPr/>
        </p:nvPicPr>
        <p:blipFill>
          <a:blip r:embed="rId2"/>
          <a:stretch/>
        </p:blipFill>
        <p:spPr>
          <a:xfrm>
            <a:off x="5039280" y="191232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7" name="Text 8"/>
          <p:cNvSpPr/>
          <p:nvPr/>
        </p:nvSpPr>
        <p:spPr>
          <a:xfrm>
            <a:off x="5605200" y="151776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Accessibility (axe-core)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9"/>
          <p:cNvSpPr/>
          <p:nvPr/>
        </p:nvSpPr>
        <p:spPr>
          <a:xfrm>
            <a:off x="5605200" y="1810440"/>
            <a:ext cx="29257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Quét 8 cỡ màn hình: 24 → 0 vi phạm thực; bổ sung Semantics cho trình đọc màn hình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10"/>
          <p:cNvSpPr/>
          <p:nvPr/>
        </p:nvSpPr>
        <p:spPr>
          <a:xfrm>
            <a:off x="548640" y="2889360"/>
            <a:ext cx="3977280" cy="135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Shape 11"/>
          <p:cNvSpPr/>
          <p:nvPr/>
        </p:nvSpPr>
        <p:spPr>
          <a:xfrm>
            <a:off x="731520" y="328284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1" name="Image 2" descr="preencoded.png"/>
          <p:cNvPicPr/>
          <p:nvPr/>
        </p:nvPicPr>
        <p:blipFill>
          <a:blip r:embed="rId3"/>
          <a:stretch/>
        </p:blipFill>
        <p:spPr>
          <a:xfrm>
            <a:off x="878760" y="34300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Text 12"/>
          <p:cNvSpPr/>
          <p:nvPr/>
        </p:nvSpPr>
        <p:spPr>
          <a:xfrm>
            <a:off x="1444680" y="30358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Bảo mật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13"/>
          <p:cNvSpPr/>
          <p:nvPr/>
        </p:nvSpPr>
        <p:spPr>
          <a:xfrm>
            <a:off x="1444680" y="3328560"/>
            <a:ext cx="29257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securityheaders.com xếp hạng A+ · phân quyền RBAC test theo cả 4 vai trò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14"/>
          <p:cNvSpPr/>
          <p:nvPr/>
        </p:nvSpPr>
        <p:spPr>
          <a:xfrm>
            <a:off x="4709160" y="2889360"/>
            <a:ext cx="3977280" cy="1352880"/>
          </a:xfrm>
          <a:prstGeom prst="rect">
            <a:avLst/>
          </a:prstGeom>
          <a:solidFill>
            <a:srgbClr val="FFFFFF"/>
          </a:solidFill>
          <a:ln w="15875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5"/>
          <p:cNvSpPr/>
          <p:nvPr/>
        </p:nvSpPr>
        <p:spPr>
          <a:xfrm>
            <a:off x="4892040" y="3282840"/>
            <a:ext cx="566640" cy="56664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6" name="Image 3" descr="preencoded.png"/>
          <p:cNvPicPr/>
          <p:nvPr/>
        </p:nvPicPr>
        <p:blipFill>
          <a:blip r:embed="rId4"/>
          <a:stretch/>
        </p:blipFill>
        <p:spPr>
          <a:xfrm>
            <a:off x="5039280" y="3430080"/>
            <a:ext cx="271800" cy="2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7" name="Text 16"/>
          <p:cNvSpPr/>
          <p:nvPr/>
        </p:nvSpPr>
        <p:spPr>
          <a:xfrm>
            <a:off x="5605200" y="3035880"/>
            <a:ext cx="2925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E2E luồng nghiệp vụ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17"/>
          <p:cNvSpPr/>
          <p:nvPr/>
        </p:nvSpPr>
        <p:spPr>
          <a:xfrm>
            <a:off x="5605200" y="3328560"/>
            <a:ext cx="292572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Đăng ký → nộp bài → chấm → chứng nhận: pass trọn vẹn với cả cuộc thi cá nhân và theo đội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8"/>
          <p:cNvSpPr/>
          <p:nvPr/>
        </p:nvSpPr>
        <p:spPr>
          <a:xfrm>
            <a:off x="548640" y="45262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Toàn bộ báo cáo kiểm thử lưu trong 11-docs — số liệu nào cũng truy lại được.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9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3 · 3/9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VẬN HÀNH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Không chỉ chạy — còn quan sát và bảo trì được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Shape 2"/>
          <p:cNvSpPr/>
          <p:nvPr/>
        </p:nvSpPr>
        <p:spPr>
          <a:xfrm>
            <a:off x="548640" y="1398960"/>
            <a:ext cx="511560" cy="511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4" name="Image 0" descr="preencoded.png"/>
          <p:cNvPicPr/>
          <p:nvPr/>
        </p:nvPicPr>
        <p:blipFill>
          <a:blip r:embed="rId1"/>
          <a:stretch/>
        </p:blipFill>
        <p:spPr>
          <a:xfrm>
            <a:off x="681840" y="153216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5" name="Text 3"/>
          <p:cNvSpPr/>
          <p:nvPr/>
        </p:nvSpPr>
        <p:spPr>
          <a:xfrm>
            <a:off x="1280160" y="13258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Sentry hai đầu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4"/>
          <p:cNvSpPr/>
          <p:nvPr/>
        </p:nvSpPr>
        <p:spPr>
          <a:xfrm>
            <a:off x="4206240" y="132588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Lỗi runtime frontend lẫn backend tự báo về một dashboard, tách bằng tag nền tảng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5"/>
          <p:cNvSpPr/>
          <p:nvPr/>
        </p:nvSpPr>
        <p:spPr>
          <a:xfrm>
            <a:off x="548640" y="2240280"/>
            <a:ext cx="511560" cy="511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8" name="Image 1" descr="preencoded.png"/>
          <p:cNvPicPr/>
          <p:nvPr/>
        </p:nvPicPr>
        <p:blipFill>
          <a:blip r:embed="rId2"/>
          <a:stretch/>
        </p:blipFill>
        <p:spPr>
          <a:xfrm>
            <a:off x="681840" y="237348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 6"/>
          <p:cNvSpPr/>
          <p:nvPr/>
        </p:nvSpPr>
        <p:spPr>
          <a:xfrm>
            <a:off x="1280160" y="216720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Audit log tra cứu được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7"/>
          <p:cNvSpPr/>
          <p:nvPr/>
        </p:nvSpPr>
        <p:spPr>
          <a:xfrm>
            <a:off x="4206240" y="216720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Mọi thao tác ghi đều lưu vết; admin lọc theo người dùng, hành động, khoảng thời gian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Shape 8"/>
          <p:cNvSpPr/>
          <p:nvPr/>
        </p:nvSpPr>
        <p:spPr>
          <a:xfrm>
            <a:off x="548640" y="3081600"/>
            <a:ext cx="511560" cy="511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2" name="Image 2" descr="preencoded.png"/>
          <p:cNvPicPr/>
          <p:nvPr/>
        </p:nvPicPr>
        <p:blipFill>
          <a:blip r:embed="rId3"/>
          <a:stretch/>
        </p:blipFill>
        <p:spPr>
          <a:xfrm>
            <a:off x="681840" y="321480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Text 9"/>
          <p:cNvSpPr/>
          <p:nvPr/>
        </p:nvSpPr>
        <p:spPr>
          <a:xfrm>
            <a:off x="1280160" y="30085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File bài thi trên R2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0"/>
          <p:cNvSpPr/>
          <p:nvPr/>
        </p:nvSpPr>
        <p:spPr>
          <a:xfrm>
            <a:off x="4206240" y="300852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Tách file khỏi database, tổ chức theo cây cuộc thi/vòng/bài — tải về có kiểm soát quyền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Shape 11"/>
          <p:cNvSpPr/>
          <p:nvPr/>
        </p:nvSpPr>
        <p:spPr>
          <a:xfrm>
            <a:off x="548640" y="3922920"/>
            <a:ext cx="511560" cy="511560"/>
          </a:xfrm>
          <a:prstGeom prst="ellipse">
            <a:avLst/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6" name="Image 3" descr="preencoded.png"/>
          <p:cNvPicPr/>
          <p:nvPr/>
        </p:nvPicPr>
        <p:blipFill>
          <a:blip r:embed="rId4"/>
          <a:stretch/>
        </p:blipFill>
        <p:spPr>
          <a:xfrm>
            <a:off x="681840" y="4055760"/>
            <a:ext cx="245520" cy="245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7" name="Text 12"/>
          <p:cNvSpPr/>
          <p:nvPr/>
        </p:nvSpPr>
        <p:spPr>
          <a:xfrm>
            <a:off x="1280160" y="384948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Demo offline một lệnh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13"/>
          <p:cNvSpPr/>
          <p:nvPr/>
        </p:nvSpPr>
        <p:spPr>
          <a:xfrm>
            <a:off x="4206240" y="3849480"/>
            <a:ext cx="43887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B5563"/>
                </a:solidFill>
                <a:effectLst/>
                <a:uFillTx/>
                <a:latin typeface="Calibri"/>
                <a:ea typeface="Calibri"/>
              </a:rPr>
              <a:t>docker-compose kèm dữ liệu mẫu seed sẵn — thầy cô chấm được mà không cần mạng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4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3 · 4/9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DEMO TRỰC TIẾP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Một cuộc thi trọn vòng đời — trong 5 phút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2"/>
          <p:cNvSpPr/>
          <p:nvPr/>
        </p:nvSpPr>
        <p:spPr>
          <a:xfrm>
            <a:off x="548640" y="1325880"/>
            <a:ext cx="712800" cy="328680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3"/>
          <p:cNvSpPr/>
          <p:nvPr/>
        </p:nvSpPr>
        <p:spPr>
          <a:xfrm>
            <a:off x="548640" y="132588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GV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4"/>
          <p:cNvSpPr/>
          <p:nvPr/>
        </p:nvSpPr>
        <p:spPr>
          <a:xfrm>
            <a:off x="1417320" y="1298520"/>
            <a:ext cx="6034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Tạo cuộc thi, cấu hình vòng thi và trình BCN duyệt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Shape 5"/>
          <p:cNvSpPr/>
          <p:nvPr/>
        </p:nvSpPr>
        <p:spPr>
          <a:xfrm>
            <a:off x="548640" y="1801440"/>
            <a:ext cx="712800" cy="3286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6"/>
          <p:cNvSpPr/>
          <p:nvPr/>
        </p:nvSpPr>
        <p:spPr>
          <a:xfrm>
            <a:off x="548640" y="180144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7"/>
          <p:cNvSpPr/>
          <p:nvPr/>
        </p:nvSpPr>
        <p:spPr>
          <a:xfrm>
            <a:off x="1417320" y="1774080"/>
            <a:ext cx="6034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Duyệt đề xuất (QĐ1) — cuộc thi được công bố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Shape 8"/>
          <p:cNvSpPr/>
          <p:nvPr/>
        </p:nvSpPr>
        <p:spPr>
          <a:xfrm>
            <a:off x="548640" y="2277000"/>
            <a:ext cx="712800" cy="328680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9"/>
          <p:cNvSpPr/>
          <p:nvPr/>
        </p:nvSpPr>
        <p:spPr>
          <a:xfrm>
            <a:off x="548640" y="227700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0"/>
          <p:cNvSpPr/>
          <p:nvPr/>
        </p:nvSpPr>
        <p:spPr>
          <a:xfrm>
            <a:off x="1417320" y="2249280"/>
            <a:ext cx="6034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Đăng ký tham gia và nộp bài trực tuyến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Shape 11"/>
          <p:cNvSpPr/>
          <p:nvPr/>
        </p:nvSpPr>
        <p:spPr>
          <a:xfrm>
            <a:off x="548640" y="2752200"/>
            <a:ext cx="712800" cy="328680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2"/>
          <p:cNvSpPr/>
          <p:nvPr/>
        </p:nvSpPr>
        <p:spPr>
          <a:xfrm>
            <a:off x="548640" y="275220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GK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3"/>
          <p:cNvSpPr/>
          <p:nvPr/>
        </p:nvSpPr>
        <p:spPr>
          <a:xfrm>
            <a:off x="1417320" y="2724840"/>
            <a:ext cx="6034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Chấm theo rubric — điểm tự tổng hợp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4"/>
          <p:cNvSpPr/>
          <p:nvPr/>
        </p:nvSpPr>
        <p:spPr>
          <a:xfrm>
            <a:off x="548640" y="3227760"/>
            <a:ext cx="712800" cy="3286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5"/>
          <p:cNvSpPr/>
          <p:nvPr/>
        </p:nvSpPr>
        <p:spPr>
          <a:xfrm>
            <a:off x="548640" y="322776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BCN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6"/>
          <p:cNvSpPr/>
          <p:nvPr/>
        </p:nvSpPr>
        <p:spPr>
          <a:xfrm>
            <a:off x="1417320" y="3200400"/>
            <a:ext cx="6034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Duyệt kết quả chung cuộc (QĐ2)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17"/>
          <p:cNvSpPr/>
          <p:nvPr/>
        </p:nvSpPr>
        <p:spPr>
          <a:xfrm>
            <a:off x="548640" y="3703320"/>
            <a:ext cx="712800" cy="328680"/>
          </a:xfrm>
          <a:prstGeom prst="roundRect">
            <a:avLst>
              <a:gd name="adj" fmla="val 50000"/>
            </a:avLst>
          </a:prstGeom>
          <a:solidFill>
            <a:srgbClr val="EDEFF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8"/>
          <p:cNvSpPr/>
          <p:nvPr/>
        </p:nvSpPr>
        <p:spPr>
          <a:xfrm>
            <a:off x="548640" y="3703320"/>
            <a:ext cx="7128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SV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9"/>
          <p:cNvSpPr/>
          <p:nvPr/>
        </p:nvSpPr>
        <p:spPr>
          <a:xfrm>
            <a:off x="1417320" y="3675960"/>
            <a:ext cx="60346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Xem kết quả, tải chứng nhận và xác thực QR công khai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Shape 20"/>
          <p:cNvSpPr/>
          <p:nvPr/>
        </p:nvSpPr>
        <p:spPr>
          <a:xfrm>
            <a:off x="7315200" y="1417320"/>
            <a:ext cx="1279800" cy="12798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1" name="Image 0" descr="preencoded.png"/>
          <p:cNvPicPr/>
          <p:nvPr/>
        </p:nvPicPr>
        <p:blipFill>
          <a:blip r:embed="rId1"/>
          <a:stretch/>
        </p:blipFill>
        <p:spPr>
          <a:xfrm>
            <a:off x="7626240" y="1627560"/>
            <a:ext cx="658080" cy="65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2" name="Text 21"/>
          <p:cNvSpPr/>
          <p:nvPr/>
        </p:nvSpPr>
        <p:spPr>
          <a:xfrm>
            <a:off x="7315200" y="2359080"/>
            <a:ext cx="127980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verify QR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2"/>
          <p:cNvSpPr/>
          <p:nvPr/>
        </p:nvSpPr>
        <p:spPr>
          <a:xfrm>
            <a:off x="548640" y="4316040"/>
            <a:ext cx="8046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Chuẩn bị sẵn:  </a:t>
            </a:r>
            <a:r>
              <a:rPr lang="en-US" sz="1150" b="0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màn đăng nhập tự điền tài khoản demo theo tab vai trò · dự phòng APK + bản Docker offline nếu mạng trục trặc.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23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3 · 5/9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KẾT LUẬN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Đối chiếu lại 4 vấn đề mở đầu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Shape 2"/>
          <p:cNvSpPr/>
          <p:nvPr/>
        </p:nvSpPr>
        <p:spPr>
          <a:xfrm>
            <a:off x="548640" y="1371600"/>
            <a:ext cx="3520080" cy="585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"/>
          <p:cNvSpPr/>
          <p:nvPr/>
        </p:nvSpPr>
        <p:spPr>
          <a:xfrm>
            <a:off x="713160" y="1371600"/>
            <a:ext cx="32457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sng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4–5 kênh thông tin phân tán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4114800" y="146304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5"/>
          <p:cNvSpPr/>
          <p:nvPr/>
        </p:nvSpPr>
        <p:spPr>
          <a:xfrm>
            <a:off x="4572000" y="1371600"/>
            <a:ext cx="4023000" cy="5850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"/>
          <p:cNvSpPr/>
          <p:nvPr/>
        </p:nvSpPr>
        <p:spPr>
          <a:xfrm>
            <a:off x="4736520" y="1371600"/>
            <a:ext cx="3748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Một nền tảng duy nhất — web + mobile + APK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7"/>
          <p:cNvSpPr/>
          <p:nvPr/>
        </p:nvSpPr>
        <p:spPr>
          <a:xfrm>
            <a:off x="548640" y="2121480"/>
            <a:ext cx="3520080" cy="585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8"/>
          <p:cNvSpPr/>
          <p:nvPr/>
        </p:nvSpPr>
        <p:spPr>
          <a:xfrm>
            <a:off x="713160" y="2121480"/>
            <a:ext cx="32457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sng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Phê duyệt giấy, chờ 3–7 ngày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9"/>
          <p:cNvSpPr/>
          <p:nvPr/>
        </p:nvSpPr>
        <p:spPr>
          <a:xfrm>
            <a:off x="4114800" y="22129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Shape 10"/>
          <p:cNvSpPr/>
          <p:nvPr/>
        </p:nvSpPr>
        <p:spPr>
          <a:xfrm>
            <a:off x="4572000" y="2121480"/>
            <a:ext cx="4023000" cy="5850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1"/>
          <p:cNvSpPr/>
          <p:nvPr/>
        </p:nvSpPr>
        <p:spPr>
          <a:xfrm>
            <a:off x="4736520" y="2121480"/>
            <a:ext cx="3748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QĐ1/QĐ2 online, lưu vết từng vòng chỉnh sửa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Shape 12"/>
          <p:cNvSpPr/>
          <p:nvPr/>
        </p:nvSpPr>
        <p:spPr>
          <a:xfrm>
            <a:off x="548640" y="2871360"/>
            <a:ext cx="3520080" cy="585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3"/>
          <p:cNvSpPr/>
          <p:nvPr/>
        </p:nvSpPr>
        <p:spPr>
          <a:xfrm>
            <a:off x="713160" y="2871360"/>
            <a:ext cx="32457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sng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Gộp form, chấm Excel thủ công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14"/>
          <p:cNvSpPr/>
          <p:nvPr/>
        </p:nvSpPr>
        <p:spPr>
          <a:xfrm>
            <a:off x="4114800" y="296280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15"/>
          <p:cNvSpPr/>
          <p:nvPr/>
        </p:nvSpPr>
        <p:spPr>
          <a:xfrm>
            <a:off x="4572000" y="2871360"/>
            <a:ext cx="4023000" cy="5850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6"/>
          <p:cNvSpPr/>
          <p:nvPr/>
        </p:nvSpPr>
        <p:spPr>
          <a:xfrm>
            <a:off x="4736520" y="2871360"/>
            <a:ext cx="3748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Đăng ký trong app · rubric tự tổng hợp · có audit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7"/>
          <p:cNvSpPr/>
          <p:nvPr/>
        </p:nvSpPr>
        <p:spPr>
          <a:xfrm>
            <a:off x="548640" y="3620880"/>
            <a:ext cx="3520080" cy="5850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8"/>
          <p:cNvSpPr/>
          <p:nvPr/>
        </p:nvSpPr>
        <p:spPr>
          <a:xfrm>
            <a:off x="713160" y="3620880"/>
            <a:ext cx="324576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sng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Chứng nhận giấy, khó kiểm chứng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9"/>
          <p:cNvSpPr/>
          <p:nvPr/>
        </p:nvSpPr>
        <p:spPr>
          <a:xfrm>
            <a:off x="4114800" y="3712320"/>
            <a:ext cx="411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0"/>
          <p:cNvSpPr/>
          <p:nvPr/>
        </p:nvSpPr>
        <p:spPr>
          <a:xfrm>
            <a:off x="4572000" y="3620880"/>
            <a:ext cx="4023000" cy="585000"/>
          </a:xfrm>
          <a:prstGeom prst="rect">
            <a:avLst/>
          </a:prstGeom>
          <a:solidFill>
            <a:srgbClr val="FBEFF0"/>
          </a:solidFill>
          <a:ln w="12700">
            <a:solidFill>
              <a:srgbClr val="F0D5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1"/>
          <p:cNvSpPr/>
          <p:nvPr/>
        </p:nvSpPr>
        <p:spPr>
          <a:xfrm>
            <a:off x="4736520" y="3620880"/>
            <a:ext cx="37486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Chứng nhận số — xác thực QR công khai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2"/>
          <p:cNvSpPr/>
          <p:nvPr/>
        </p:nvSpPr>
        <p:spPr>
          <a:xfrm>
            <a:off x="548640" y="449892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30/30 chức năng cam kết ở Phần 1 — có mặt đầy đủ trong sản phẩm cuối.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Text 23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3 · 6/9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NHÌN THẲNG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Những gì hệ thống chưa làm được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Shape 2"/>
          <p:cNvSpPr/>
          <p:nvPr/>
        </p:nvSpPr>
        <p:spPr>
          <a:xfrm>
            <a:off x="548640" y="148140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2" name="Image 0" descr="preencoded.png"/>
          <p:cNvPicPr/>
          <p:nvPr/>
        </p:nvPicPr>
        <p:blipFill>
          <a:blip r:embed="rId1"/>
          <a:stretch/>
        </p:blipFill>
        <p:spPr>
          <a:xfrm>
            <a:off x="685800" y="1618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3" name="Text 3"/>
          <p:cNvSpPr/>
          <p:nvPr/>
        </p:nvSpPr>
        <p:spPr>
          <a:xfrm>
            <a:off x="1298520" y="14446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Lời mời vào đội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4"/>
          <p:cNvSpPr/>
          <p:nvPr/>
        </p:nvSpPr>
        <p:spPr>
          <a:xfrm>
            <a:off x="1298520" y="1737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backend sẵn sàng, UI nhận lời mời còn tạm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Shape 5"/>
          <p:cNvSpPr/>
          <p:nvPr/>
        </p:nvSpPr>
        <p:spPr>
          <a:xfrm>
            <a:off x="4709160" y="148140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6" name="Image 1" descr="preencoded.png"/>
          <p:cNvPicPr/>
          <p:nvPr/>
        </p:nvPicPr>
        <p:blipFill>
          <a:blip r:embed="rId2"/>
          <a:stretch/>
        </p:blipFill>
        <p:spPr>
          <a:xfrm>
            <a:off x="4846320" y="1618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7" name="Text 6"/>
          <p:cNvSpPr/>
          <p:nvPr/>
        </p:nvSpPr>
        <p:spPr>
          <a:xfrm>
            <a:off x="5459040" y="14446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Quét QR bằng camera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7"/>
          <p:cNvSpPr/>
          <p:nvPr/>
        </p:nvSpPr>
        <p:spPr>
          <a:xfrm>
            <a:off x="5459040" y="1737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xác thực hiện nhập mã thủ công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8"/>
          <p:cNvSpPr/>
          <p:nvPr/>
        </p:nvSpPr>
        <p:spPr>
          <a:xfrm>
            <a:off x="548640" y="248724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0" name="Image 2" descr="preencoded.png"/>
          <p:cNvPicPr/>
          <p:nvPr/>
        </p:nvPicPr>
        <p:blipFill>
          <a:blip r:embed="rId3"/>
          <a:stretch/>
        </p:blipFill>
        <p:spPr>
          <a:xfrm>
            <a:off x="685800" y="2624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 9"/>
          <p:cNvSpPr/>
          <p:nvPr/>
        </p:nvSpPr>
        <p:spPr>
          <a:xfrm>
            <a:off x="1298520" y="2450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Email &amp; push notification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0"/>
          <p:cNvSpPr/>
          <p:nvPr/>
        </p:nvSpPr>
        <p:spPr>
          <a:xfrm>
            <a:off x="1298520" y="27432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thông báo mới dừng ở trong app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Shape 11"/>
          <p:cNvSpPr/>
          <p:nvPr/>
        </p:nvSpPr>
        <p:spPr>
          <a:xfrm>
            <a:off x="4709160" y="248724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4" name="Image 3" descr="preencoded.png"/>
          <p:cNvPicPr/>
          <p:nvPr/>
        </p:nvPicPr>
        <p:blipFill>
          <a:blip r:embed="rId4"/>
          <a:stretch/>
        </p:blipFill>
        <p:spPr>
          <a:xfrm>
            <a:off x="4846320" y="2624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5" name="Text 12"/>
          <p:cNvSpPr/>
          <p:nvPr/>
        </p:nvSpPr>
        <p:spPr>
          <a:xfrm>
            <a:off x="5459040" y="2450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Bảng xếp hạng realtime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Text 13"/>
          <p:cNvSpPr/>
          <p:nvPr/>
        </p:nvSpPr>
        <p:spPr>
          <a:xfrm>
            <a:off x="5459040" y="27432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phải tải lại trang, chưa WebSocket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Shape 14"/>
          <p:cNvSpPr/>
          <p:nvPr/>
        </p:nvSpPr>
        <p:spPr>
          <a:xfrm>
            <a:off x="548640" y="349308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8" name="Image 4" descr="preencoded.png"/>
          <p:cNvPicPr/>
          <p:nvPr/>
        </p:nvPicPr>
        <p:blipFill>
          <a:blip r:embed="rId5"/>
          <a:stretch/>
        </p:blipFill>
        <p:spPr>
          <a:xfrm>
            <a:off x="685800" y="3630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9" name="Text 15"/>
          <p:cNvSpPr/>
          <p:nvPr/>
        </p:nvSpPr>
        <p:spPr>
          <a:xfrm>
            <a:off x="1298520" y="34563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CI/CD tự động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16"/>
          <p:cNvSpPr/>
          <p:nvPr/>
        </p:nvSpPr>
        <p:spPr>
          <a:xfrm>
            <a:off x="1298520" y="37490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frontend còn deploy thủ công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17"/>
          <p:cNvSpPr/>
          <p:nvPr/>
        </p:nvSpPr>
        <p:spPr>
          <a:xfrm>
            <a:off x="4709160" y="349308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5" descr="preencoded.png"/>
          <p:cNvPicPr/>
          <p:nvPr/>
        </p:nvPicPr>
        <p:blipFill>
          <a:blip r:embed="rId6"/>
          <a:stretch/>
        </p:blipFill>
        <p:spPr>
          <a:xfrm>
            <a:off x="4846320" y="3630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18"/>
          <p:cNvSpPr/>
          <p:nvPr/>
        </p:nvSpPr>
        <p:spPr>
          <a:xfrm>
            <a:off x="5459040" y="34563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Đa ngôn ngữ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19"/>
          <p:cNvSpPr/>
          <p:nvPr/>
        </p:nvSpPr>
        <p:spPr>
          <a:xfrm>
            <a:off x="5459040" y="37490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giao diện hiện chỉ tiếng Việt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20"/>
          <p:cNvSpPr/>
          <p:nvPr/>
        </p:nvSpPr>
        <p:spPr>
          <a:xfrm>
            <a:off x="548640" y="449892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Tất cả đều đã có phương án kỹ thuật cụ thể trong chương 5 báo cáo — là việc chưa làm, không phải việc không làm được.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 21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3 · 7/9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 0"/>
          <p:cNvSpPr/>
          <p:nvPr/>
        </p:nvSpPr>
        <p:spPr>
          <a:xfrm>
            <a:off x="548640" y="2926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C8102E"/>
                </a:solidFill>
                <a:effectLst/>
                <a:uFillTx/>
                <a:latin typeface="Calibri"/>
                <a:ea typeface="Calibri"/>
              </a:rPr>
              <a:t>HƯỚNG PHÁT TRIỂN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1"/>
          <p:cNvSpPr/>
          <p:nvPr/>
        </p:nvSpPr>
        <p:spPr>
          <a:xfrm>
            <a:off x="548640" y="567000"/>
            <a:ext cx="804636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1F2430"/>
                </a:solidFill>
                <a:effectLst/>
                <a:uFillTx/>
                <a:latin typeface="Cambria"/>
                <a:ea typeface="Cambria"/>
              </a:rPr>
              <a:t>Bước tiếp theo nếu được đầu tư thêm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Shape 2"/>
          <p:cNvSpPr/>
          <p:nvPr/>
        </p:nvSpPr>
        <p:spPr>
          <a:xfrm>
            <a:off x="548640" y="148140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Image 0" descr="preencoded.png"/>
          <p:cNvPicPr/>
          <p:nvPr/>
        </p:nvPicPr>
        <p:blipFill>
          <a:blip r:embed="rId1"/>
          <a:stretch/>
        </p:blipFill>
        <p:spPr>
          <a:xfrm>
            <a:off x="685800" y="1618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Text 3"/>
          <p:cNvSpPr/>
          <p:nvPr/>
        </p:nvSpPr>
        <p:spPr>
          <a:xfrm>
            <a:off x="1298520" y="14446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SSO tài khoản PTIT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4"/>
          <p:cNvSpPr/>
          <p:nvPr/>
        </p:nvSpPr>
        <p:spPr>
          <a:xfrm>
            <a:off x="1298520" y="1737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đăng nhập một chạm — nút đã chừa sẵn ở màn login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5"/>
          <p:cNvSpPr/>
          <p:nvPr/>
        </p:nvSpPr>
        <p:spPr>
          <a:xfrm>
            <a:off x="4709160" y="148140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4" name="Image 1" descr="preencoded.png"/>
          <p:cNvPicPr/>
          <p:nvPr/>
        </p:nvPicPr>
        <p:blipFill>
          <a:blip r:embed="rId2"/>
          <a:stretch/>
        </p:blipFill>
        <p:spPr>
          <a:xfrm>
            <a:off x="4846320" y="161856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Text 6"/>
          <p:cNvSpPr/>
          <p:nvPr/>
        </p:nvSpPr>
        <p:spPr>
          <a:xfrm>
            <a:off x="5459040" y="144468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Email qua HTTP API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7"/>
          <p:cNvSpPr/>
          <p:nvPr/>
        </p:nvSpPr>
        <p:spPr>
          <a:xfrm>
            <a:off x="5459040" y="173736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vượt chặn SMTP của hosting miễn phí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Shape 8"/>
          <p:cNvSpPr/>
          <p:nvPr/>
        </p:nvSpPr>
        <p:spPr>
          <a:xfrm>
            <a:off x="548640" y="248724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8" name="Image 2" descr="preencoded.png"/>
          <p:cNvPicPr/>
          <p:nvPr/>
        </p:nvPicPr>
        <p:blipFill>
          <a:blip r:embed="rId3"/>
          <a:stretch/>
        </p:blipFill>
        <p:spPr>
          <a:xfrm>
            <a:off x="685800" y="2624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9" name="Text 9"/>
          <p:cNvSpPr/>
          <p:nvPr/>
        </p:nvSpPr>
        <p:spPr>
          <a:xfrm>
            <a:off x="1298520" y="2450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WebSocket realtime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0"/>
          <p:cNvSpPr/>
          <p:nvPr/>
        </p:nvSpPr>
        <p:spPr>
          <a:xfrm>
            <a:off x="1298520" y="27432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bảng xếp hạng live + thông báo đẩy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11"/>
          <p:cNvSpPr/>
          <p:nvPr/>
        </p:nvSpPr>
        <p:spPr>
          <a:xfrm>
            <a:off x="4709160" y="248724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2" name="Image 3" descr="preencoded.png"/>
          <p:cNvPicPr/>
          <p:nvPr/>
        </p:nvPicPr>
        <p:blipFill>
          <a:blip r:embed="rId4"/>
          <a:stretch/>
        </p:blipFill>
        <p:spPr>
          <a:xfrm>
            <a:off x="4846320" y="262440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Text 12"/>
          <p:cNvSpPr/>
          <p:nvPr/>
        </p:nvSpPr>
        <p:spPr>
          <a:xfrm>
            <a:off x="5459040" y="245052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CI/CD GitHub Actions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13"/>
          <p:cNvSpPr/>
          <p:nvPr/>
        </p:nvSpPr>
        <p:spPr>
          <a:xfrm>
            <a:off x="5459040" y="274320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push code là tự build, tự deploy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14"/>
          <p:cNvSpPr/>
          <p:nvPr/>
        </p:nvSpPr>
        <p:spPr>
          <a:xfrm>
            <a:off x="548640" y="349308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6" name="Image 4" descr="preencoded.png"/>
          <p:cNvPicPr/>
          <p:nvPr/>
        </p:nvPicPr>
        <p:blipFill>
          <a:blip r:embed="rId5"/>
          <a:stretch/>
        </p:blipFill>
        <p:spPr>
          <a:xfrm>
            <a:off x="685800" y="3630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7" name="Text 15"/>
          <p:cNvSpPr/>
          <p:nvPr/>
        </p:nvSpPr>
        <p:spPr>
          <a:xfrm>
            <a:off x="1298520" y="34563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Bản iOS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 16"/>
          <p:cNvSpPr/>
          <p:nvPr/>
        </p:nvSpPr>
        <p:spPr>
          <a:xfrm>
            <a:off x="1298520" y="37490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cùng codebase Flutter, thêm một target build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Shape 17"/>
          <p:cNvSpPr/>
          <p:nvPr/>
        </p:nvSpPr>
        <p:spPr>
          <a:xfrm>
            <a:off x="4709160" y="3493080"/>
            <a:ext cx="548280" cy="548280"/>
          </a:xfrm>
          <a:prstGeom prst="ellipse">
            <a:avLst/>
          </a:prstGeom>
          <a:solidFill>
            <a:srgbClr val="FBEF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0" name="Image 5" descr="preencoded.png"/>
          <p:cNvPicPr/>
          <p:nvPr/>
        </p:nvPicPr>
        <p:blipFill>
          <a:blip r:embed="rId6"/>
          <a:stretch/>
        </p:blipFill>
        <p:spPr>
          <a:xfrm>
            <a:off x="4846320" y="3630240"/>
            <a:ext cx="273960" cy="273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1" name="Text 18"/>
          <p:cNvSpPr/>
          <p:nvPr/>
        </p:nvSpPr>
        <p:spPr>
          <a:xfrm>
            <a:off x="5459040" y="3456360"/>
            <a:ext cx="3200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F2430"/>
                </a:solidFill>
                <a:effectLst/>
                <a:uFillTx/>
                <a:latin typeface="Calibri"/>
                <a:ea typeface="Calibri"/>
              </a:rPr>
              <a:t>Nhân rộng toàn Học viện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9"/>
          <p:cNvSpPr/>
          <p:nvPr/>
        </p:nvSpPr>
        <p:spPr>
          <a:xfrm>
            <a:off x="5459040" y="3749040"/>
            <a:ext cx="32000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đa khoa — phạm vi faculty đã thiết kế sẵn từ đầu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20"/>
          <p:cNvSpPr/>
          <p:nvPr/>
        </p:nvSpPr>
        <p:spPr>
          <a:xfrm>
            <a:off x="548640" y="449892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Ưu tiên theo giá trị người dùng: SSO và thông báo email trước, mở rộng quy mô sau.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21"/>
          <p:cNvSpPr/>
          <p:nvPr/>
        </p:nvSpPr>
        <p:spPr>
          <a:xfrm>
            <a:off x="7589520" y="4827960"/>
            <a:ext cx="1142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B9BEC7"/>
                </a:solidFill>
                <a:effectLst/>
                <a:uFillTx/>
                <a:latin typeface="Calibri"/>
                <a:ea typeface="Calibri"/>
              </a:rPr>
              <a:t>Phần 3 · 8/9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7A0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Image 0" descr="preencoded.png"/>
          <p:cNvPicPr/>
          <p:nvPr/>
        </p:nvPicPr>
        <p:blipFill>
          <a:blip r:embed="rId1">
            <a:alphaModFix amt="14000"/>
          </a:blip>
          <a:stretch/>
        </p:blipFill>
        <p:spPr>
          <a:xfrm>
            <a:off x="6537960" y="685800"/>
            <a:ext cx="1919880" cy="191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6" name="Text 0"/>
          <p:cNvSpPr/>
          <p:nvPr/>
        </p:nvSpPr>
        <p:spPr>
          <a:xfrm>
            <a:off x="640080" y="137160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Cảm ơn thầy cô và các bạn!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1"/>
          <p:cNvSpPr/>
          <p:nvPr/>
        </p:nvSpPr>
        <p:spPr>
          <a:xfrm>
            <a:off x="640080" y="2286000"/>
            <a:ext cx="7680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AD9DD"/>
                </a:solidFill>
                <a:effectLst/>
                <a:uFillTx/>
                <a:latin typeface="Calibri"/>
                <a:ea typeface="Calibri"/>
              </a:rPr>
              <a:t>Nhóm N08 sẵn sàng trả lời câu hỏi — về nghiệp vụ, thiết kế hay code.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Text 2"/>
          <p:cNvSpPr/>
          <p:nvPr/>
        </p:nvSpPr>
        <p:spPr>
          <a:xfrm>
            <a:off x="640080" y="388620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Dùng thử ngay: 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ptit-contest-app.pages.dev</a:t>
            </a:r>
            <a:r>
              <a:rPr lang="en-US" sz="1400" b="0" u="none" strike="noStrike">
                <a:solidFill>
                  <a:srgbClr val="F3C5CB"/>
                </a:solidFill>
                <a:effectLst/>
                <a:uFillTx/>
                <a:latin typeface="Calibri"/>
                <a:ea typeface="Calibri"/>
              </a:rPr>
              <a:t>   ·   mã nguồn &amp; tài liệu đầy đủ trong repo nhóm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LibreOffice/26.2.3.2$Windows_X86_64 LibreOffice_project/70e089b17412e4cb7773e41413306b17a2328c34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2026-06-10T21:44:26Z</dcterms:created>
  <dc:creator>Nhom N08</dc:creator>
  <dc:description/>
  <dc:language>en-US</dc:language>
  <cp:lastModifiedBy/>
  <dcterms:modified xsi:type="dcterms:W3CDTF">2026-06-11T04:46:29Z</dcterms:modified>
  <cp:revision>2</cp:revision>
  <dc:subject>PptxGenJS Presentation</dc:subject>
  <dc:title>He thong Quan ly Cuoc thi SV PTIT - Slide bao ve 3 phan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