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F7232B5-D24E-4029-BDEB-5A0602480C1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Chào thầy cô và các bạn. Phần mở màn trả lời 2 câu hỏi: vì sao cần hệ thống này, và hệ thống cần làm được gì. Đi theo 4 bước: bối cảnh - hiện trạng - giải pháp - yêu cầu.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1EE402-4D43-4E03-A90E-45732F866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mạnh: nhu cầu là có thật và lặp lại hàng năm - đây không phải bài toán giả định. 3 con số đọc chậm, rõ.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46D1E6-D65B-45EB-AE5C-FFDD0DFFAD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van de doc luot nhanh, moi van de 1 cau. Diem chot: khong co van de nao kho ve cong nghe - kho o cho chua ai go chung lai thanh mot he thong.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A30C78-D348-47A3-82FC-0317DDA041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Số liệu từ user journey AS-IS: cô giảng viên tổ chức Hackathon mất 40-50 giờ; sinh viên 24 ngày vòng đời thì 9 ngày là chờ. Câu chốt in nghiêng là cầu nối sang slide giải pháp.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790C1-144F-4411-9D02-CFC6D0C1C6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ý giải pháp đối xứng 1-1 với 4 vấn đề ở slide 3. Nói rõ mapping này để thầy thấy giải pháp không chung chung.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2E9D51-6965-4997-9D5F-3E922F8E80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chức năng chia theo 4 vai trò, mỗi vai trò chỉ đọc 1 dòng nhiệm vụ chính. Sinh viên dùng cả mobile, 3 vai trò còn lại làm việc trên web desktop.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B95FD9-D9D6-4499-A13F-D862CAB818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quan trọng nhất phần này - dừng lâu hơn. Hai quyết định riêng biệt: QĐ1 cho phép tổ chức, QĐ2 công nhận kết quả. Nhấn revision loop có lưu vết - giải đúng pain point phê duyệt giấy 3-7 ngày.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6DE83B-3486-45A8-9878-4E10C448CF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 bước là use case tổng quát - khung cho mọi phần sau. Cột phải đọc nhanh, vì bạn 2 và 3 sẽ nói sâu hơn.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8F18A4-CBE9-4525-97DD-DCADEBF68A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Chốt 1 câu rồi chuyển ngay cho bạn thứ hai, không kéo dài.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05AD4-47C4-495D-84D1-26D0AC6D7E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alphaModFix amt="14000"/>
          </a:blip>
          <a:stretch/>
        </p:blipFill>
        <p:spPr>
          <a:xfrm>
            <a:off x="6537960" y="685800"/>
            <a:ext cx="19198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640080" y="868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PHẦN 1 / 3 — MỞ MÀN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1188720"/>
            <a:ext cx="7863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Bài toán &amp; Phân tích yêu cầu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20574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Hệ thống Quản lý Cuộc thi Sinh viên PTIT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0080" y="254196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Người trình bày: CHÂU GIA BẢO — N22DCAT005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4008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Bối cảnh &amp; hiện trạng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2633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2633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Hệ quả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62672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462672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Giải pháp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6620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6620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Người dùng &amp; yêu cầu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BỐI CẢNH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Cuộc thi sinh viên tại PTIT — quy mô không nhỏ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548640" y="1417320"/>
            <a:ext cx="2578320" cy="1874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48640" y="1645920"/>
            <a:ext cx="257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15–25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548640" y="239580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cuộc thi mỗi năm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48640" y="272484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cấp khoa và toàn Học viện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6"/>
          <p:cNvSpPr/>
          <p:nvPr/>
        </p:nvSpPr>
        <p:spPr>
          <a:xfrm>
            <a:off x="3355920" y="1417320"/>
            <a:ext cx="2578320" cy="1874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3355920" y="1645920"/>
            <a:ext cx="257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50–300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3355920" y="239580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thí sinh mỗi cuộc thi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3355920" y="272484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sự kiện lớn lên đến 500+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6163200" y="1417320"/>
            <a:ext cx="2578320" cy="1874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163200" y="1645920"/>
            <a:ext cx="257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3.000–5.000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6163200" y="239580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lượt đăng ký mỗi năm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6163200" y="272484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trên toàn Học viện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48640" y="36576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4 nhóm cuộc thi:  </a:t>
            </a:r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Học thuật chuyên ngành  ·  Sáng tạo – khởi nghiệp  ·  Văn hóa – thể thao  ·  Nội bộ khoa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548640" y="46177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Số liệu: ước tính — chưa phải khảo sát đo đạc.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2/9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HIỆN TRẠNG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Nhưng tất cả đang chạy thủ công và rời rạc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548640" y="137160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749880" y="18198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0" descr="preencoded.png"/>
          <p:cNvPicPr/>
          <p:nvPr/>
        </p:nvPicPr>
        <p:blipFill>
          <a:blip r:embed="rId1"/>
          <a:stretch/>
        </p:blipFill>
        <p:spPr>
          <a:xfrm>
            <a:off x="897120" y="19670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4"/>
          <p:cNvSpPr/>
          <p:nvPr/>
        </p:nvSpPr>
        <p:spPr>
          <a:xfrm>
            <a:off x="1463040" y="15728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Thông tin phân tán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463040" y="18835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Facebook, email, bảng tin giấy — sinh viên bỏ lỡ vì không có nguồn chính thức nào.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4709160" y="137160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4910400" y="18198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5057640" y="19670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8"/>
          <p:cNvSpPr/>
          <p:nvPr/>
        </p:nvSpPr>
        <p:spPr>
          <a:xfrm>
            <a:off x="5623560" y="15728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Đăng ký rời rạc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5623560" y="18835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Mỗi cuộc thi một Google Form; BTC gộp dữ liệu thủ công, dễ trùng lặp, sai sót.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0"/>
          <p:cNvSpPr/>
          <p:nvPr/>
        </p:nvSpPr>
        <p:spPr>
          <a:xfrm>
            <a:off x="548640" y="299916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749880" y="34473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2" descr="preencoded.png"/>
          <p:cNvPicPr/>
          <p:nvPr/>
        </p:nvPicPr>
        <p:blipFill>
          <a:blip r:embed="rId3"/>
          <a:stretch/>
        </p:blipFill>
        <p:spPr>
          <a:xfrm>
            <a:off x="897120" y="35946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12"/>
          <p:cNvSpPr/>
          <p:nvPr/>
        </p:nvSpPr>
        <p:spPr>
          <a:xfrm>
            <a:off x="1463040" y="32004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Phê duyệt trên giấy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1463040" y="351144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 công văn → BCN ký → scan → email lại. Mỗi vòng phản hồi mất 3–7 ngày.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4"/>
          <p:cNvSpPr/>
          <p:nvPr/>
        </p:nvSpPr>
        <p:spPr>
          <a:xfrm>
            <a:off x="4709160" y="299916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4910400" y="34473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3" descr="preencoded.png"/>
          <p:cNvPicPr/>
          <p:nvPr/>
        </p:nvPicPr>
        <p:blipFill>
          <a:blip r:embed="rId4"/>
          <a:stretch/>
        </p:blipFill>
        <p:spPr>
          <a:xfrm>
            <a:off x="5057640" y="35946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6"/>
          <p:cNvSpPr/>
          <p:nvPr/>
        </p:nvSpPr>
        <p:spPr>
          <a:xfrm>
            <a:off x="5623560" y="32004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Chấm điểm bằng Excel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5623560" y="351144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Mỗi giám khảo một file riêng, tổng hợp tay — không có dấu vết để đối chiếu.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8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3/9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HỆ QUẢ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Cái giá của quy trình thủ công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1536120" y="1417320"/>
            <a:ext cx="603000" cy="60300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1691640" y="1572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3"/>
          <p:cNvSpPr/>
          <p:nvPr/>
        </p:nvSpPr>
        <p:spPr>
          <a:xfrm>
            <a:off x="548640" y="2176200"/>
            <a:ext cx="2578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40–50 giờ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548640" y="278892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sức BTC cho một cuộc thi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548640" y="331020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60% là việc hành chính lặp lại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6"/>
          <p:cNvSpPr/>
          <p:nvPr/>
        </p:nvSpPr>
        <p:spPr>
          <a:xfrm>
            <a:off x="4343400" y="1417320"/>
            <a:ext cx="603000" cy="60300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1" descr="preencoded.png"/>
          <p:cNvPicPr/>
          <p:nvPr/>
        </p:nvPicPr>
        <p:blipFill>
          <a:blip r:embed="rId2"/>
          <a:stretch/>
        </p:blipFill>
        <p:spPr>
          <a:xfrm>
            <a:off x="4498920" y="1572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7"/>
          <p:cNvSpPr/>
          <p:nvPr/>
        </p:nvSpPr>
        <p:spPr>
          <a:xfrm>
            <a:off x="3355920" y="2176200"/>
            <a:ext cx="2578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9 ngày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3355920" y="278892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sinh viên chờ không rõ trạng thái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3355920" y="331020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7/10 bước trải nghiệm tiêu cực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7150680" y="1417320"/>
            <a:ext cx="603000" cy="60300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2" descr="preencoded.png"/>
          <p:cNvPicPr/>
          <p:nvPr/>
        </p:nvPicPr>
        <p:blipFill>
          <a:blip r:embed="rId3"/>
          <a:stretch/>
        </p:blipFill>
        <p:spPr>
          <a:xfrm>
            <a:off x="7306200" y="1572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1"/>
          <p:cNvSpPr/>
          <p:nvPr/>
        </p:nvSpPr>
        <p:spPr>
          <a:xfrm>
            <a:off x="6163200" y="2176200"/>
            <a:ext cx="2578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0 công cụ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6163200" y="278892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để BCN giám sát tiến độ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6163200" y="331020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tổng hợp cuối kỳ hoàn toàn thủ công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548640" y="41148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Ba nhóm người dùng — cùng một nguyên nhân: thiếu một hệ thống chung.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4/9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GIẢI PHÁP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Một nền tảng quản lý trọn vòng đời cuộc thi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115668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133272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3"/>
          <p:cNvSpPr/>
          <p:nvPr/>
        </p:nvSpPr>
        <p:spPr>
          <a:xfrm>
            <a:off x="54864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Một kênh duy nhất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9436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Thông tin, đăng ký, nộp bài — tập trung một nơi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323244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2"/>
          <a:stretch/>
        </p:blipFill>
        <p:spPr>
          <a:xfrm>
            <a:off x="340848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6"/>
          <p:cNvSpPr/>
          <p:nvPr/>
        </p:nvSpPr>
        <p:spPr>
          <a:xfrm>
            <a:off x="262440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Phê duyệt số hóa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267012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Đề xuất và kết quả duyệt online, lưu vết từng lần sửa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530820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2" descr="preencoded.png"/>
          <p:cNvPicPr/>
          <p:nvPr/>
        </p:nvPicPr>
        <p:blipFill>
          <a:blip r:embed="rId3"/>
          <a:stretch/>
        </p:blipFill>
        <p:spPr>
          <a:xfrm>
            <a:off x="548388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9"/>
          <p:cNvSpPr/>
          <p:nvPr/>
        </p:nvSpPr>
        <p:spPr>
          <a:xfrm>
            <a:off x="470016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Trạng thái real-time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474588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SV, BTC, BCN cùng nhìn một dữ liệu, không phải hỏi nhau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1"/>
          <p:cNvSpPr/>
          <p:nvPr/>
        </p:nvSpPr>
        <p:spPr>
          <a:xfrm>
            <a:off x="738396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4"/>
          <a:stretch/>
        </p:blipFill>
        <p:spPr>
          <a:xfrm>
            <a:off x="755964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2"/>
          <p:cNvSpPr/>
          <p:nvPr/>
        </p:nvSpPr>
        <p:spPr>
          <a:xfrm>
            <a:off x="677556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Chứng nhận 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682128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Xác thực công khai, chống giả mạo, dùng được cho CV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2743200" y="4069080"/>
            <a:ext cx="3657240" cy="456840"/>
          </a:xfrm>
          <a:prstGeom prst="roundRect">
            <a:avLst>
              <a:gd name="adj" fmla="val 50000"/>
            </a:avLst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5"/>
          <p:cNvSpPr/>
          <p:nvPr/>
        </p:nvSpPr>
        <p:spPr>
          <a:xfrm>
            <a:off x="2743200" y="4069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Web  ·  Mobile (Flutter)  ·  APK Android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5/9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NGƯỜI DÙNG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Bốn vai trò — 30 chức năng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4864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21176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135900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4"/>
          <p:cNvSpPr/>
          <p:nvPr/>
        </p:nvSpPr>
        <p:spPr>
          <a:xfrm>
            <a:off x="54864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Sinh viên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54864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11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65844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Tìm và đăng ký thi, nộp bài, xem kết quả, nhận chứng nhận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54864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Mobile + 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8"/>
          <p:cNvSpPr/>
          <p:nvPr/>
        </p:nvSpPr>
        <p:spPr>
          <a:xfrm>
            <a:off x="262440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9"/>
          <p:cNvSpPr/>
          <p:nvPr/>
        </p:nvSpPr>
        <p:spPr>
          <a:xfrm>
            <a:off x="328716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1" descr="preencoded.png"/>
          <p:cNvPicPr/>
          <p:nvPr/>
        </p:nvPicPr>
        <p:blipFill>
          <a:blip r:embed="rId2"/>
          <a:stretch/>
        </p:blipFill>
        <p:spPr>
          <a:xfrm>
            <a:off x="343476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10"/>
          <p:cNvSpPr/>
          <p:nvPr/>
        </p:nvSpPr>
        <p:spPr>
          <a:xfrm>
            <a:off x="262440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GV / Ban tổ chức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262440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7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273420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Tạo cuộc thi, duyệt thí sinh, tổ chức chấm điểm, báo cáo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262440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470016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536292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 2" descr="preencoded.png"/>
          <p:cNvPicPr/>
          <p:nvPr/>
        </p:nvPicPr>
        <p:blipFill>
          <a:blip r:embed="rId3"/>
          <a:stretch/>
        </p:blipFill>
        <p:spPr>
          <a:xfrm>
            <a:off x="551052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16"/>
          <p:cNvSpPr/>
          <p:nvPr/>
        </p:nvSpPr>
        <p:spPr>
          <a:xfrm>
            <a:off x="470016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khoa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7"/>
          <p:cNvSpPr/>
          <p:nvPr/>
        </p:nvSpPr>
        <p:spPr>
          <a:xfrm>
            <a:off x="470016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6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480960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Phê duyệt đề xuất và kết quả, giám sát toàn khoa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9"/>
          <p:cNvSpPr/>
          <p:nvPr/>
        </p:nvSpPr>
        <p:spPr>
          <a:xfrm>
            <a:off x="470016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0"/>
          <p:cNvSpPr/>
          <p:nvPr/>
        </p:nvSpPr>
        <p:spPr>
          <a:xfrm>
            <a:off x="677556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1"/>
          <p:cNvSpPr/>
          <p:nvPr/>
        </p:nvSpPr>
        <p:spPr>
          <a:xfrm>
            <a:off x="743868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3" descr="preencoded.png"/>
          <p:cNvPicPr/>
          <p:nvPr/>
        </p:nvPicPr>
        <p:blipFill>
          <a:blip r:embed="rId4"/>
          <a:stretch/>
        </p:blipFill>
        <p:spPr>
          <a:xfrm>
            <a:off x="758592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22"/>
          <p:cNvSpPr/>
          <p:nvPr/>
        </p:nvSpPr>
        <p:spPr>
          <a:xfrm>
            <a:off x="677556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Quản trị viên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677556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6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688536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Tài khoản, cấu hình hệ thống, sao lưu và audit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677556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548640" y="443484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Ngoài ra: vai trò Giám khảo do BTC gán theo từng cuộc thi — phân quyền RBAC 5 vai trò.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6/9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ĐIỂM ĐẶC THÙ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Quy trình phê duyệt hai cấp BTC ↔ BCN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548640" y="144468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QĐ1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Đề xuất cuộc thi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1874520" y="13716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874520" y="13716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BTC soạn &amp; nộp đề xuất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3886200" y="15361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4251960" y="1371600"/>
            <a:ext cx="2011320" cy="712800"/>
          </a:xfrm>
          <a:prstGeom prst="rect">
            <a:avLst/>
          </a:prstGeom>
          <a:solidFill>
            <a:srgbClr val="C8102E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4251960" y="13716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BCN xét duyệt — QĐ1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6263640" y="15361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6629400" y="13716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6629400" y="13716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bố · mở đăng ký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548640" y="246888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QĐ2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Kết quả chung cuộc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1874520" y="23958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1874520" y="23958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BTC tổng hợp &amp; chốt điểm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3886200" y="25603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5"/>
          <p:cNvSpPr/>
          <p:nvPr/>
        </p:nvSpPr>
        <p:spPr>
          <a:xfrm>
            <a:off x="4251960" y="2395800"/>
            <a:ext cx="2011320" cy="712800"/>
          </a:xfrm>
          <a:prstGeom prst="rect">
            <a:avLst/>
          </a:prstGeom>
          <a:solidFill>
            <a:srgbClr val="C8102E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4251960" y="23958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BCN xét duyệt — QĐ2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6263640" y="25603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6629400" y="23958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9"/>
          <p:cNvSpPr/>
          <p:nvPr/>
        </p:nvSpPr>
        <p:spPr>
          <a:xfrm>
            <a:off x="6629400" y="23958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bố KQ · cấp chứng nhận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0"/>
          <p:cNvSpPr/>
          <p:nvPr/>
        </p:nvSpPr>
        <p:spPr>
          <a:xfrm>
            <a:off x="548640" y="3456360"/>
            <a:ext cx="8046360" cy="7678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preencoded.png"/>
          <p:cNvPicPr/>
          <p:nvPr/>
        </p:nvPicPr>
        <p:blipFill>
          <a:blip r:embed="rId1"/>
          <a:stretch/>
        </p:blipFill>
        <p:spPr>
          <a:xfrm>
            <a:off x="777240" y="365760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1"/>
          <p:cNvSpPr/>
          <p:nvPr/>
        </p:nvSpPr>
        <p:spPr>
          <a:xfrm>
            <a:off x="1280160" y="3529440"/>
            <a:ext cx="7177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Vòng chỉnh sửa:  </a:t>
            </a: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có thể yêu cầu sửa — BTC chỉnh và nộp lại. Mỗi vòng tạo bản ghi mới kèm snapshot, lưu vết đầy đủ — điều bản giấy không làm được.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2"/>
          <p:cNvSpPr/>
          <p:nvPr/>
        </p:nvSpPr>
        <p:spPr>
          <a:xfrm>
            <a:off x="548640" y="44074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Ràng buộc cứng trong hệ thống: kết quả chỉ được công bố khi BCN đã phê duyệt.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3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7/9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PHẠM VI YÊU CẦU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Hệ thống phải làm được gì?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48640" y="12070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Luồng nghiệp vụ đầu–cuối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548640" y="162756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548640" y="1627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960120" y="16412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Tạo và đề xuất cuộc thi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6"/>
          <p:cNvSpPr/>
          <p:nvPr/>
        </p:nvSpPr>
        <p:spPr>
          <a:xfrm>
            <a:off x="548640" y="203904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548640" y="2039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960120" y="20527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phê duyệt đề xuất (QĐ1)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548640" y="245052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548640" y="2450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960120" y="246420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Mở đăng ký — cá nhân hoặc theo đội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2"/>
          <p:cNvSpPr/>
          <p:nvPr/>
        </p:nvSpPr>
        <p:spPr>
          <a:xfrm>
            <a:off x="548640" y="286200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548640" y="2862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960120" y="287568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Nộp bài trực tuyến, nhiều phiên bản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548640" y="327348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548640" y="32734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7"/>
          <p:cNvSpPr/>
          <p:nvPr/>
        </p:nvSpPr>
        <p:spPr>
          <a:xfrm>
            <a:off x="960120" y="328716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Chấm theo rubric, nhiều giám khảo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8"/>
          <p:cNvSpPr/>
          <p:nvPr/>
        </p:nvSpPr>
        <p:spPr>
          <a:xfrm>
            <a:off x="548640" y="368496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548640" y="36849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960120" y="36986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phê duyệt kết quả (QĐ2)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548640" y="409644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548640" y="4096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960120" y="41101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bố kết quả + chứng nhận QR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4"/>
          <p:cNvSpPr/>
          <p:nvPr/>
        </p:nvSpPr>
        <p:spPr>
          <a:xfrm>
            <a:off x="5486400" y="1207080"/>
            <a:ext cx="3108600" cy="33829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0" descr="preencoded.png"/>
          <p:cNvPicPr/>
          <p:nvPr/>
        </p:nvPicPr>
        <p:blipFill>
          <a:blip r:embed="rId1"/>
          <a:stretch/>
        </p:blipFill>
        <p:spPr>
          <a:xfrm>
            <a:off x="5715000" y="1426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25"/>
          <p:cNvSpPr/>
          <p:nvPr/>
        </p:nvSpPr>
        <p:spPr>
          <a:xfrm>
            <a:off x="6199560" y="14630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Yêu cầu phi chức năng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5715000" y="2011680"/>
            <a:ext cx="27428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Phân quyền RBAC 5 vai trò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Audit log mọi thao tác dữ liệu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Responsive web + mobile, có APK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Thông báo trong app theo sự kiện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Chứng nhận xác thực công khai (QR)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8/9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640080" y="12344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Bài toán đã rõ.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640080" y="214884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Thay 4–5 kênh thủ công bằng một nền tảng duy nhất,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với quy trình phê duyệt hai cấp được số hóa hoàn toàn.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640080" y="361188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preencoded.png"/>
          <p:cNvPicPr/>
          <p:nvPr/>
        </p:nvPicPr>
        <p:blipFill>
          <a:blip r:embed="rId1"/>
          <a:stretch/>
        </p:blipFill>
        <p:spPr>
          <a:xfrm>
            <a:off x="773280" y="374508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Text 3"/>
          <p:cNvSpPr/>
          <p:nvPr/>
        </p:nvSpPr>
        <p:spPr>
          <a:xfrm>
            <a:off x="1325880" y="35935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Tiếp theo — Phần 2: Hệ thống được thiết kế thế nào?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Kiến trúc  ·  Cơ sở dữ liệu  ·  Giao diện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2026-06-10T21:01:11Z</dcterms:created>
  <dc:creator>Nhom N08</dc:creator>
  <dc:description/>
  <dc:language>en-US</dc:language>
  <cp:lastModifiedBy/>
  <dcterms:modified xsi:type="dcterms:W3CDTF">2026-06-11T04:11:56Z</dcterms:modified>
  <cp:revision>3</cp:revision>
  <dc:subject>PptxGenJS Presentation</dc:subject>
  <dc:title>Phan 1 - Bai toan &amp; Phan tich yeu cau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